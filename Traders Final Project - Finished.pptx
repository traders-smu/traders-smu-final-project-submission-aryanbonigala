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83" r:id="rId5"/>
    <p:sldMasterId id="2147483691" r:id="rId6"/>
    <p:sldMasterId id="2147483701" r:id="rId7"/>
  </p:sldMasterIdLst>
  <p:notesMasterIdLst>
    <p:notesMasterId r:id="rId25"/>
  </p:notesMasterIdLst>
  <p:handoutMasterIdLst>
    <p:handoutMasterId r:id="rId26"/>
  </p:handoutMasterIdLst>
  <p:sldIdLst>
    <p:sldId id="278" r:id="rId8"/>
    <p:sldId id="265" r:id="rId9"/>
    <p:sldId id="279" r:id="rId10"/>
    <p:sldId id="280" r:id="rId11"/>
    <p:sldId id="287" r:id="rId12"/>
    <p:sldId id="281" r:id="rId13"/>
    <p:sldId id="289" r:id="rId14"/>
    <p:sldId id="286" r:id="rId15"/>
    <p:sldId id="282" r:id="rId16"/>
    <p:sldId id="285" r:id="rId17"/>
    <p:sldId id="288" r:id="rId18"/>
    <p:sldId id="290" r:id="rId19"/>
    <p:sldId id="291" r:id="rId20"/>
    <p:sldId id="283" r:id="rId21"/>
    <p:sldId id="292" r:id="rId22"/>
    <p:sldId id="293" r:id="rId23"/>
    <p:sldId id="264" r:id="rId2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1E1E"/>
    <a:srgbClr val="383838"/>
    <a:srgbClr val="215F9A"/>
    <a:srgbClr val="0C111D"/>
    <a:srgbClr val="667085"/>
    <a:srgbClr val="D3D3D3"/>
    <a:srgbClr val="026A94"/>
    <a:srgbClr val="2B3145"/>
    <a:srgbClr val="196B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649AC3-76D5-3ED2-290D-C223553D5CAB}" v="6" dt="2025-04-30T13:12:02.527"/>
    <p1510:client id="{0B0E86BA-7640-2645-BA7B-5838925819FF}" v="1988" dt="2025-04-30T16:32:50.033"/>
    <p1510:client id="{2A5FA87A-BF05-32B9-9780-02A5D7FE987F}" v="193" dt="2025-04-30T20:36:49.287"/>
    <p1510:client id="{47B53135-CE3E-22D9-18A6-E1881EC2AE38}" v="189" dt="2025-04-30T04:48:27.239"/>
    <p1510:client id="{D53F135F-7B07-91F5-0DFF-B832C391E11A}" v="17" dt="2025-04-29T21:23:24.106"/>
    <p1510:client id="{DAAD7A25-3863-4050-AFCA-BC8069ADCBC4}" v="1171" dt="2025-04-30T17:55:06.943"/>
    <p1510:client id="{E6832C6A-B2E4-29F1-8716-D01FC7B951C2}" v="210" dt="2025-04-30T01:53:31.80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https://smu365-my.sharepoint.com/personal/zimmerw_smu_edu/Documents/trader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Sheet1!$H$3</c:f>
              <c:strCache>
                <c:ptCount val="1"/>
                <c:pt idx="0">
                  <c:v>SPY RETURNS</c:v>
                </c:pt>
              </c:strCache>
            </c:strRef>
          </c:tx>
          <c:spPr>
            <a:ln w="50800" cap="rnd">
              <a:solidFill>
                <a:schemeClr val="accent1"/>
              </a:solidFill>
              <a:round/>
            </a:ln>
            <a:effectLst/>
          </c:spPr>
          <c:marker>
            <c:symbol val="none"/>
          </c:marker>
          <c:cat>
            <c:strRef>
              <c:f>Sheet1!$G$4:$G$254</c:f>
              <c:strCache>
                <c:ptCount val="251"/>
                <c:pt idx="0">
                  <c:v>4/29/2024</c:v>
                </c:pt>
                <c:pt idx="1">
                  <c:v>4/30/2024</c:v>
                </c:pt>
                <c:pt idx="2">
                  <c:v>5/01/2024</c:v>
                </c:pt>
                <c:pt idx="3">
                  <c:v>5/02/2024</c:v>
                </c:pt>
                <c:pt idx="4">
                  <c:v>5/03/2024</c:v>
                </c:pt>
                <c:pt idx="5">
                  <c:v>5/06/2024</c:v>
                </c:pt>
                <c:pt idx="6">
                  <c:v>5/07/2024</c:v>
                </c:pt>
                <c:pt idx="7">
                  <c:v>5/08/2024</c:v>
                </c:pt>
                <c:pt idx="8">
                  <c:v>5/09/2024</c:v>
                </c:pt>
                <c:pt idx="9">
                  <c:v>5/10/2024</c:v>
                </c:pt>
                <c:pt idx="10">
                  <c:v>5/13/2024</c:v>
                </c:pt>
                <c:pt idx="11">
                  <c:v>5/14/2024</c:v>
                </c:pt>
                <c:pt idx="12">
                  <c:v>5/15/2024</c:v>
                </c:pt>
                <c:pt idx="13">
                  <c:v>5/16/2024</c:v>
                </c:pt>
                <c:pt idx="14">
                  <c:v>5/17/2024</c:v>
                </c:pt>
                <c:pt idx="15">
                  <c:v>5/20/2024</c:v>
                </c:pt>
                <c:pt idx="16">
                  <c:v>5/21/2024</c:v>
                </c:pt>
                <c:pt idx="17">
                  <c:v>5/22/2024</c:v>
                </c:pt>
                <c:pt idx="18">
                  <c:v>5/23/2024</c:v>
                </c:pt>
                <c:pt idx="19">
                  <c:v>5/24/2024</c:v>
                </c:pt>
                <c:pt idx="20">
                  <c:v>5/28/2024</c:v>
                </c:pt>
                <c:pt idx="21">
                  <c:v>5/29/2024</c:v>
                </c:pt>
                <c:pt idx="22">
                  <c:v>5/30/2024</c:v>
                </c:pt>
                <c:pt idx="23">
                  <c:v>5/31/2024</c:v>
                </c:pt>
                <c:pt idx="24">
                  <c:v>6/03/2024</c:v>
                </c:pt>
                <c:pt idx="25">
                  <c:v>6/04/2024</c:v>
                </c:pt>
                <c:pt idx="26">
                  <c:v>6/05/2024</c:v>
                </c:pt>
                <c:pt idx="27">
                  <c:v>6/06/2024</c:v>
                </c:pt>
                <c:pt idx="28">
                  <c:v>6/07/2024</c:v>
                </c:pt>
                <c:pt idx="29">
                  <c:v>6/10/2024</c:v>
                </c:pt>
                <c:pt idx="30">
                  <c:v>6/11/2024</c:v>
                </c:pt>
                <c:pt idx="31">
                  <c:v>6/12/2024</c:v>
                </c:pt>
                <c:pt idx="32">
                  <c:v>6/13/2024</c:v>
                </c:pt>
                <c:pt idx="33">
                  <c:v>6/14/2024</c:v>
                </c:pt>
                <c:pt idx="34">
                  <c:v>6/17/2024</c:v>
                </c:pt>
                <c:pt idx="35">
                  <c:v>6/18/2024</c:v>
                </c:pt>
                <c:pt idx="36">
                  <c:v>6/20/2024</c:v>
                </c:pt>
                <c:pt idx="37">
                  <c:v>6/21/2024</c:v>
                </c:pt>
                <c:pt idx="38">
                  <c:v>6/24/2024</c:v>
                </c:pt>
                <c:pt idx="39">
                  <c:v>6/25/2024</c:v>
                </c:pt>
                <c:pt idx="40">
                  <c:v>6/26/2024</c:v>
                </c:pt>
                <c:pt idx="41">
                  <c:v>6/27/2024</c:v>
                </c:pt>
                <c:pt idx="42">
                  <c:v>6/28/2024</c:v>
                </c:pt>
                <c:pt idx="43">
                  <c:v>7/01/2024</c:v>
                </c:pt>
                <c:pt idx="44">
                  <c:v>7/02/2024</c:v>
                </c:pt>
                <c:pt idx="45">
                  <c:v>7/03/2024</c:v>
                </c:pt>
                <c:pt idx="46">
                  <c:v>7/05/2024</c:v>
                </c:pt>
                <c:pt idx="47">
                  <c:v>7/08/2024</c:v>
                </c:pt>
                <c:pt idx="48">
                  <c:v>7/09/2024</c:v>
                </c:pt>
                <c:pt idx="49">
                  <c:v>7/10/2024</c:v>
                </c:pt>
                <c:pt idx="50">
                  <c:v>7/11/2024</c:v>
                </c:pt>
                <c:pt idx="51">
                  <c:v>7/12/2024</c:v>
                </c:pt>
                <c:pt idx="52">
                  <c:v>7/15/2024</c:v>
                </c:pt>
                <c:pt idx="53">
                  <c:v>7/16/2024</c:v>
                </c:pt>
                <c:pt idx="54">
                  <c:v>7/17/2024</c:v>
                </c:pt>
                <c:pt idx="55">
                  <c:v>7/18/2024</c:v>
                </c:pt>
                <c:pt idx="56">
                  <c:v>7/19/2024</c:v>
                </c:pt>
                <c:pt idx="57">
                  <c:v>7/22/2024</c:v>
                </c:pt>
                <c:pt idx="58">
                  <c:v>7/23/2024</c:v>
                </c:pt>
                <c:pt idx="59">
                  <c:v>7/24/2024</c:v>
                </c:pt>
                <c:pt idx="60">
                  <c:v>7/25/2024</c:v>
                </c:pt>
                <c:pt idx="61">
                  <c:v>7/26/2024</c:v>
                </c:pt>
                <c:pt idx="62">
                  <c:v>7/29/2024</c:v>
                </c:pt>
                <c:pt idx="63">
                  <c:v>7/30/2024</c:v>
                </c:pt>
                <c:pt idx="64">
                  <c:v>7/31/2024</c:v>
                </c:pt>
                <c:pt idx="65">
                  <c:v>8/01/2024</c:v>
                </c:pt>
                <c:pt idx="66">
                  <c:v>8/02/2024</c:v>
                </c:pt>
                <c:pt idx="67">
                  <c:v>8/05/2024</c:v>
                </c:pt>
                <c:pt idx="68">
                  <c:v>8/06/2024</c:v>
                </c:pt>
                <c:pt idx="69">
                  <c:v>8/07/2024</c:v>
                </c:pt>
                <c:pt idx="70">
                  <c:v>8/08/2024</c:v>
                </c:pt>
                <c:pt idx="71">
                  <c:v>8/09/2024</c:v>
                </c:pt>
                <c:pt idx="72">
                  <c:v>8/12/2024</c:v>
                </c:pt>
                <c:pt idx="73">
                  <c:v>8/13/2024</c:v>
                </c:pt>
                <c:pt idx="74">
                  <c:v>8/14/2024</c:v>
                </c:pt>
                <c:pt idx="75">
                  <c:v>8/15/2024</c:v>
                </c:pt>
                <c:pt idx="76">
                  <c:v>8/16/2024</c:v>
                </c:pt>
                <c:pt idx="77">
                  <c:v>8/19/2024</c:v>
                </c:pt>
                <c:pt idx="78">
                  <c:v>8/20/2024</c:v>
                </c:pt>
                <c:pt idx="79">
                  <c:v>8/21/2024</c:v>
                </c:pt>
                <c:pt idx="80">
                  <c:v>8/22/2024</c:v>
                </c:pt>
                <c:pt idx="81">
                  <c:v>8/23/2024</c:v>
                </c:pt>
                <c:pt idx="82">
                  <c:v>8/26/2024</c:v>
                </c:pt>
                <c:pt idx="83">
                  <c:v>8/27/2024</c:v>
                </c:pt>
                <c:pt idx="84">
                  <c:v>8/28/2024</c:v>
                </c:pt>
                <c:pt idx="85">
                  <c:v>8/29/2024</c:v>
                </c:pt>
                <c:pt idx="86">
                  <c:v>8/30/2024</c:v>
                </c:pt>
                <c:pt idx="87">
                  <c:v>9/03/2024</c:v>
                </c:pt>
                <c:pt idx="88">
                  <c:v>9/04/2024</c:v>
                </c:pt>
                <c:pt idx="89">
                  <c:v>9/05/2024</c:v>
                </c:pt>
                <c:pt idx="90">
                  <c:v>9/06/2024</c:v>
                </c:pt>
                <c:pt idx="91">
                  <c:v>9/09/2024</c:v>
                </c:pt>
                <c:pt idx="92">
                  <c:v>9/10/2024</c:v>
                </c:pt>
                <c:pt idx="93">
                  <c:v>9/11/2024</c:v>
                </c:pt>
                <c:pt idx="94">
                  <c:v>9/12/2024</c:v>
                </c:pt>
                <c:pt idx="95">
                  <c:v>9/13/2024</c:v>
                </c:pt>
                <c:pt idx="96">
                  <c:v>9/16/2024</c:v>
                </c:pt>
                <c:pt idx="97">
                  <c:v>9/17/2024</c:v>
                </c:pt>
                <c:pt idx="98">
                  <c:v>9/18/2024</c:v>
                </c:pt>
                <c:pt idx="99">
                  <c:v>9/19/2024</c:v>
                </c:pt>
                <c:pt idx="100">
                  <c:v>9/20/2024</c:v>
                </c:pt>
                <c:pt idx="101">
                  <c:v>9/23/2024</c:v>
                </c:pt>
                <c:pt idx="102">
                  <c:v>9/24/2024</c:v>
                </c:pt>
                <c:pt idx="103">
                  <c:v>9/25/2024</c:v>
                </c:pt>
                <c:pt idx="104">
                  <c:v>9/26/2024</c:v>
                </c:pt>
                <c:pt idx="105">
                  <c:v>9/27/2024</c:v>
                </c:pt>
                <c:pt idx="106">
                  <c:v>9/30/2024</c:v>
                </c:pt>
                <c:pt idx="107">
                  <c:v>10/01/2024</c:v>
                </c:pt>
                <c:pt idx="108">
                  <c:v>10/02/2024</c:v>
                </c:pt>
                <c:pt idx="109">
                  <c:v>10/03/2024</c:v>
                </c:pt>
                <c:pt idx="110">
                  <c:v>10/04/2024</c:v>
                </c:pt>
                <c:pt idx="111">
                  <c:v>10/07/2024</c:v>
                </c:pt>
                <c:pt idx="112">
                  <c:v>10/08/2024</c:v>
                </c:pt>
                <c:pt idx="113">
                  <c:v>10/09/2024</c:v>
                </c:pt>
                <c:pt idx="114">
                  <c:v>10/10/2024</c:v>
                </c:pt>
                <c:pt idx="115">
                  <c:v>10/11/2024</c:v>
                </c:pt>
                <c:pt idx="116">
                  <c:v>10/14/2024</c:v>
                </c:pt>
                <c:pt idx="117">
                  <c:v>10/15/2024</c:v>
                </c:pt>
                <c:pt idx="118">
                  <c:v>10/16/2024</c:v>
                </c:pt>
                <c:pt idx="119">
                  <c:v>10/17/2024</c:v>
                </c:pt>
                <c:pt idx="120">
                  <c:v>10/18/2024</c:v>
                </c:pt>
                <c:pt idx="121">
                  <c:v>10/21/2024</c:v>
                </c:pt>
                <c:pt idx="122">
                  <c:v>10/22/2024</c:v>
                </c:pt>
                <c:pt idx="123">
                  <c:v>10/23/2024</c:v>
                </c:pt>
                <c:pt idx="124">
                  <c:v>10/24/2024</c:v>
                </c:pt>
                <c:pt idx="125">
                  <c:v>10/25/2024</c:v>
                </c:pt>
                <c:pt idx="126">
                  <c:v>10/28/2024</c:v>
                </c:pt>
                <c:pt idx="127">
                  <c:v>10/29/2024</c:v>
                </c:pt>
                <c:pt idx="128">
                  <c:v>10/30/2024</c:v>
                </c:pt>
                <c:pt idx="129">
                  <c:v>10/31/2024</c:v>
                </c:pt>
                <c:pt idx="130">
                  <c:v>11/01/2024</c:v>
                </c:pt>
                <c:pt idx="131">
                  <c:v>11/04/2024</c:v>
                </c:pt>
                <c:pt idx="132">
                  <c:v>11/05/2024</c:v>
                </c:pt>
                <c:pt idx="133">
                  <c:v>11/06/2024</c:v>
                </c:pt>
                <c:pt idx="134">
                  <c:v>11/07/2024</c:v>
                </c:pt>
                <c:pt idx="135">
                  <c:v>11/08/2024</c:v>
                </c:pt>
                <c:pt idx="136">
                  <c:v>11/11/2024</c:v>
                </c:pt>
                <c:pt idx="137">
                  <c:v>11/12/2024</c:v>
                </c:pt>
                <c:pt idx="138">
                  <c:v>11/13/2024</c:v>
                </c:pt>
                <c:pt idx="139">
                  <c:v>11/14/2024</c:v>
                </c:pt>
                <c:pt idx="140">
                  <c:v>11/15/2024</c:v>
                </c:pt>
                <c:pt idx="141">
                  <c:v>11/18/2024</c:v>
                </c:pt>
                <c:pt idx="142">
                  <c:v>11/19/2024</c:v>
                </c:pt>
                <c:pt idx="143">
                  <c:v>11/20/2024</c:v>
                </c:pt>
                <c:pt idx="144">
                  <c:v>11/21/2024</c:v>
                </c:pt>
                <c:pt idx="145">
                  <c:v>11/22/2024</c:v>
                </c:pt>
                <c:pt idx="146">
                  <c:v>11/25/2024</c:v>
                </c:pt>
                <c:pt idx="147">
                  <c:v>11/26/2024</c:v>
                </c:pt>
                <c:pt idx="148">
                  <c:v>11/27/2024</c:v>
                </c:pt>
                <c:pt idx="149">
                  <c:v>11/29/2024</c:v>
                </c:pt>
                <c:pt idx="150">
                  <c:v>12/02/2024</c:v>
                </c:pt>
                <c:pt idx="151">
                  <c:v>12/03/2024</c:v>
                </c:pt>
                <c:pt idx="152">
                  <c:v>12/04/2024</c:v>
                </c:pt>
                <c:pt idx="153">
                  <c:v>12/05/2024</c:v>
                </c:pt>
                <c:pt idx="154">
                  <c:v>12/06/2024</c:v>
                </c:pt>
                <c:pt idx="155">
                  <c:v>12/09/2024</c:v>
                </c:pt>
                <c:pt idx="156">
                  <c:v>12/10/2024</c:v>
                </c:pt>
                <c:pt idx="157">
                  <c:v>12/11/2024</c:v>
                </c:pt>
                <c:pt idx="158">
                  <c:v>12/12/2024</c:v>
                </c:pt>
                <c:pt idx="159">
                  <c:v>12/13/2024</c:v>
                </c:pt>
                <c:pt idx="160">
                  <c:v>12/16/2024</c:v>
                </c:pt>
                <c:pt idx="161">
                  <c:v>12/17/2024</c:v>
                </c:pt>
                <c:pt idx="162">
                  <c:v>12/18/2024</c:v>
                </c:pt>
                <c:pt idx="163">
                  <c:v>12/19/2024</c:v>
                </c:pt>
                <c:pt idx="164">
                  <c:v>12/20/2024</c:v>
                </c:pt>
                <c:pt idx="165">
                  <c:v>12/23/2024</c:v>
                </c:pt>
                <c:pt idx="166">
                  <c:v>12/24/2024</c:v>
                </c:pt>
                <c:pt idx="167">
                  <c:v>12/26/2024</c:v>
                </c:pt>
                <c:pt idx="168">
                  <c:v>12/27/2024</c:v>
                </c:pt>
                <c:pt idx="169">
                  <c:v>12/30/2024</c:v>
                </c:pt>
                <c:pt idx="170">
                  <c:v>12/31/2024</c:v>
                </c:pt>
                <c:pt idx="171">
                  <c:v>1/02/2025</c:v>
                </c:pt>
                <c:pt idx="172">
                  <c:v>1/03/2025</c:v>
                </c:pt>
                <c:pt idx="173">
                  <c:v>1/06/2025</c:v>
                </c:pt>
                <c:pt idx="174">
                  <c:v>1/07/2025</c:v>
                </c:pt>
                <c:pt idx="175">
                  <c:v>1/08/2025</c:v>
                </c:pt>
                <c:pt idx="176">
                  <c:v>1/10/2025</c:v>
                </c:pt>
                <c:pt idx="177">
                  <c:v>1/13/2025</c:v>
                </c:pt>
                <c:pt idx="178">
                  <c:v>1/14/2025</c:v>
                </c:pt>
                <c:pt idx="179">
                  <c:v>1/15/2025</c:v>
                </c:pt>
                <c:pt idx="180">
                  <c:v>1/16/2025</c:v>
                </c:pt>
                <c:pt idx="181">
                  <c:v>1/17/2025</c:v>
                </c:pt>
                <c:pt idx="182">
                  <c:v>1/21/2025</c:v>
                </c:pt>
                <c:pt idx="183">
                  <c:v>1/22/2025</c:v>
                </c:pt>
                <c:pt idx="184">
                  <c:v>1/23/2025</c:v>
                </c:pt>
                <c:pt idx="185">
                  <c:v>1/24/2025</c:v>
                </c:pt>
                <c:pt idx="186">
                  <c:v>1/27/2025</c:v>
                </c:pt>
                <c:pt idx="187">
                  <c:v>1/28/2025</c:v>
                </c:pt>
                <c:pt idx="188">
                  <c:v>1/29/2025</c:v>
                </c:pt>
                <c:pt idx="189">
                  <c:v>1/30/2025</c:v>
                </c:pt>
                <c:pt idx="190">
                  <c:v>1/31/2025</c:v>
                </c:pt>
                <c:pt idx="191">
                  <c:v>2/03/2025</c:v>
                </c:pt>
                <c:pt idx="192">
                  <c:v>2/04/2025</c:v>
                </c:pt>
                <c:pt idx="193">
                  <c:v>2/05/2025</c:v>
                </c:pt>
                <c:pt idx="194">
                  <c:v>2/06/2025</c:v>
                </c:pt>
                <c:pt idx="195">
                  <c:v>2/07/2025</c:v>
                </c:pt>
                <c:pt idx="196">
                  <c:v>2/10/2025</c:v>
                </c:pt>
                <c:pt idx="197">
                  <c:v>2/11/2025</c:v>
                </c:pt>
                <c:pt idx="198">
                  <c:v>2/12/2025</c:v>
                </c:pt>
                <c:pt idx="199">
                  <c:v>2/13/2025</c:v>
                </c:pt>
                <c:pt idx="200">
                  <c:v>2/14/2025</c:v>
                </c:pt>
                <c:pt idx="201">
                  <c:v>2/18/2025</c:v>
                </c:pt>
                <c:pt idx="202">
                  <c:v>2/19/2025</c:v>
                </c:pt>
                <c:pt idx="203">
                  <c:v>2/20/2025</c:v>
                </c:pt>
                <c:pt idx="204">
                  <c:v>2/21/2025</c:v>
                </c:pt>
                <c:pt idx="205">
                  <c:v>2/24/2025</c:v>
                </c:pt>
                <c:pt idx="206">
                  <c:v>2/25/2025</c:v>
                </c:pt>
                <c:pt idx="207">
                  <c:v>2/26/2025</c:v>
                </c:pt>
                <c:pt idx="208">
                  <c:v>2/27/2025</c:v>
                </c:pt>
                <c:pt idx="209">
                  <c:v>2/28/2025</c:v>
                </c:pt>
                <c:pt idx="210">
                  <c:v>3/03/2025</c:v>
                </c:pt>
                <c:pt idx="211">
                  <c:v>3/04/2025</c:v>
                </c:pt>
                <c:pt idx="212">
                  <c:v>3/05/2025</c:v>
                </c:pt>
                <c:pt idx="213">
                  <c:v>3/06/2025</c:v>
                </c:pt>
                <c:pt idx="214">
                  <c:v>3/07/2025</c:v>
                </c:pt>
                <c:pt idx="215">
                  <c:v>3/10/2025</c:v>
                </c:pt>
                <c:pt idx="216">
                  <c:v>3/11/2025</c:v>
                </c:pt>
                <c:pt idx="217">
                  <c:v>3/12/2025</c:v>
                </c:pt>
                <c:pt idx="218">
                  <c:v>3/13/2025</c:v>
                </c:pt>
                <c:pt idx="219">
                  <c:v>3/14/2025</c:v>
                </c:pt>
                <c:pt idx="220">
                  <c:v>3/17/2025</c:v>
                </c:pt>
                <c:pt idx="221">
                  <c:v>3/18/2025</c:v>
                </c:pt>
                <c:pt idx="222">
                  <c:v>3/19/2025</c:v>
                </c:pt>
                <c:pt idx="223">
                  <c:v>3/20/2025</c:v>
                </c:pt>
                <c:pt idx="224">
                  <c:v>3/21/2025</c:v>
                </c:pt>
                <c:pt idx="225">
                  <c:v>3/24/2025</c:v>
                </c:pt>
                <c:pt idx="226">
                  <c:v>3/25/2025</c:v>
                </c:pt>
                <c:pt idx="227">
                  <c:v>3/26/2025</c:v>
                </c:pt>
                <c:pt idx="228">
                  <c:v>3/27/2025</c:v>
                </c:pt>
                <c:pt idx="229">
                  <c:v>3/28/2025</c:v>
                </c:pt>
                <c:pt idx="230">
                  <c:v>3/31/2025</c:v>
                </c:pt>
                <c:pt idx="231">
                  <c:v>4/01/2025</c:v>
                </c:pt>
                <c:pt idx="232">
                  <c:v>4/02/2025</c:v>
                </c:pt>
                <c:pt idx="233">
                  <c:v>4/03/2025</c:v>
                </c:pt>
                <c:pt idx="234">
                  <c:v>4/04/2025</c:v>
                </c:pt>
                <c:pt idx="235">
                  <c:v>4/07/2025</c:v>
                </c:pt>
                <c:pt idx="236">
                  <c:v>4/08/2025</c:v>
                </c:pt>
                <c:pt idx="237">
                  <c:v>4/09/2025</c:v>
                </c:pt>
                <c:pt idx="238">
                  <c:v>4/10/2025</c:v>
                </c:pt>
                <c:pt idx="239">
                  <c:v>4/11/2025</c:v>
                </c:pt>
                <c:pt idx="240">
                  <c:v>4/14/2025</c:v>
                </c:pt>
                <c:pt idx="241">
                  <c:v>4/15/2025</c:v>
                </c:pt>
                <c:pt idx="242">
                  <c:v>4/16/2025</c:v>
                </c:pt>
                <c:pt idx="243">
                  <c:v>4/17/2025</c:v>
                </c:pt>
                <c:pt idx="244">
                  <c:v>4/21/2025</c:v>
                </c:pt>
                <c:pt idx="245">
                  <c:v>4/22/2025</c:v>
                </c:pt>
                <c:pt idx="246">
                  <c:v>4/23/2025</c:v>
                </c:pt>
                <c:pt idx="247">
                  <c:v>4/24/2025</c:v>
                </c:pt>
                <c:pt idx="248">
                  <c:v>4/25/2025</c:v>
                </c:pt>
                <c:pt idx="249">
                  <c:v>4/28/2025</c:v>
                </c:pt>
                <c:pt idx="250">
                  <c:v>4/29/2025</c:v>
                </c:pt>
              </c:strCache>
            </c:strRef>
          </c:cat>
          <c:val>
            <c:numRef>
              <c:f>Sheet1!$H$4:$H$254</c:f>
              <c:numCache>
                <c:formatCode>General</c:formatCode>
                <c:ptCount val="251"/>
                <c:pt idx="1">
                  <c:v>-1.5841273575657788E-2</c:v>
                </c:pt>
                <c:pt idx="2">
                  <c:v>-1.9036976042034248E-2</c:v>
                </c:pt>
                <c:pt idx="3">
                  <c:v>-9.8615849115790688E-3</c:v>
                </c:pt>
                <c:pt idx="4">
                  <c:v>2.4114810022350941E-3</c:v>
                </c:pt>
                <c:pt idx="5">
                  <c:v>1.2763204328902544E-2</c:v>
                </c:pt>
                <c:pt idx="6">
                  <c:v>1.3880719915304152E-2</c:v>
                </c:pt>
                <c:pt idx="7">
                  <c:v>1.3978747598321961E-2</c:v>
                </c:pt>
                <c:pt idx="8">
                  <c:v>1.9821197506175725E-2</c:v>
                </c:pt>
                <c:pt idx="9">
                  <c:v>2.1134768458612729E-2</c:v>
                </c:pt>
                <c:pt idx="10">
                  <c:v>2.1272007214837352E-2</c:v>
                </c:pt>
                <c:pt idx="11">
                  <c:v>2.5957730463082695E-2</c:v>
                </c:pt>
                <c:pt idx="12">
                  <c:v>3.8662118182174687E-2</c:v>
                </c:pt>
                <c:pt idx="13">
                  <c:v>3.6525114692389282E-2</c:v>
                </c:pt>
                <c:pt idx="14">
                  <c:v>3.8015135474257944E-2</c:v>
                </c:pt>
                <c:pt idx="15">
                  <c:v>3.9211073207073621E-2</c:v>
                </c:pt>
                <c:pt idx="16">
                  <c:v>4.175979296553356E-2</c:v>
                </c:pt>
                <c:pt idx="17">
                  <c:v>3.8760145865192497E-2</c:v>
                </c:pt>
                <c:pt idx="18">
                  <c:v>3.1172803199623678E-2</c:v>
                </c:pt>
                <c:pt idx="19">
                  <c:v>3.7995529937654426E-2</c:v>
                </c:pt>
                <c:pt idx="20">
                  <c:v>3.872093479198524E-2</c:v>
                </c:pt>
                <c:pt idx="21">
                  <c:v>3.1447280712073145E-2</c:v>
                </c:pt>
                <c:pt idx="22">
                  <c:v>2.4604948437438656E-2</c:v>
                </c:pt>
                <c:pt idx="23">
                  <c:v>3.3937183860722309E-2</c:v>
                </c:pt>
                <c:pt idx="24">
                  <c:v>3.4780221934674227E-2</c:v>
                </c:pt>
                <c:pt idx="25">
                  <c:v>3.5936948594283091E-2</c:v>
                </c:pt>
                <c:pt idx="26">
                  <c:v>4.8249225581304067E-2</c:v>
                </c:pt>
                <c:pt idx="27">
                  <c:v>4.822962004470055E-2</c:v>
                </c:pt>
                <c:pt idx="28">
                  <c:v>4.6955260165470802E-2</c:v>
                </c:pt>
                <c:pt idx="29">
                  <c:v>5.0190173705054297E-2</c:v>
                </c:pt>
                <c:pt idx="30">
                  <c:v>5.2719287926910718E-2</c:v>
                </c:pt>
                <c:pt idx="31">
                  <c:v>6.136532956907037E-2</c:v>
                </c:pt>
                <c:pt idx="32">
                  <c:v>6.3502333058855998E-2</c:v>
                </c:pt>
                <c:pt idx="33">
                  <c:v>6.4149315766772519E-2</c:v>
                </c:pt>
                <c:pt idx="34">
                  <c:v>7.2618907579500513E-2</c:v>
                </c:pt>
                <c:pt idx="35">
                  <c:v>7.5344077167392109E-2</c:v>
                </c:pt>
                <c:pt idx="36">
                  <c:v>7.2422852213465116E-2</c:v>
                </c:pt>
                <c:pt idx="37">
                  <c:v>6.7541073599184376E-2</c:v>
                </c:pt>
                <c:pt idx="38">
                  <c:v>6.4070893620358449E-2</c:v>
                </c:pt>
                <c:pt idx="39">
                  <c:v>6.8168450770497602E-2</c:v>
                </c:pt>
                <c:pt idx="40">
                  <c:v>6.9501627259538123E-2</c:v>
                </c:pt>
                <c:pt idx="41">
                  <c:v>7.1187703407442182E-2</c:v>
                </c:pt>
                <c:pt idx="42">
                  <c:v>6.6972513037681924E-2</c:v>
                </c:pt>
                <c:pt idx="43">
                  <c:v>6.9168333137278104E-2</c:v>
                </c:pt>
                <c:pt idx="44">
                  <c:v>7.6363565070775907E-2</c:v>
                </c:pt>
                <c:pt idx="45">
                  <c:v>8.1166921538642578E-2</c:v>
                </c:pt>
                <c:pt idx="46">
                  <c:v>8.7401482178567136E-2</c:v>
                </c:pt>
                <c:pt idx="47">
                  <c:v>8.8656236521193588E-2</c:v>
                </c:pt>
                <c:pt idx="48">
                  <c:v>8.9714935497784642E-2</c:v>
                </c:pt>
                <c:pt idx="49">
                  <c:v>0.10049798062972992</c:v>
                </c:pt>
                <c:pt idx="50">
                  <c:v>9.1008900913618129E-2</c:v>
                </c:pt>
                <c:pt idx="51">
                  <c:v>9.7890444261459431E-2</c:v>
                </c:pt>
                <c:pt idx="52">
                  <c:v>0.10090969689840401</c:v>
                </c:pt>
                <c:pt idx="53">
                  <c:v>0.107438340587382</c:v>
                </c:pt>
                <c:pt idx="54">
                  <c:v>9.1910755597380822E-2</c:v>
                </c:pt>
                <c:pt idx="55">
                  <c:v>8.3519585931066898E-2</c:v>
                </c:pt>
                <c:pt idx="56">
                  <c:v>7.6324353997568872E-2</c:v>
                </c:pt>
                <c:pt idx="57">
                  <c:v>8.7421087715170653E-2</c:v>
                </c:pt>
                <c:pt idx="58">
                  <c:v>8.5715406030663077E-2</c:v>
                </c:pt>
                <c:pt idx="59">
                  <c:v>6.1110457593224421E-2</c:v>
                </c:pt>
                <c:pt idx="60">
                  <c:v>5.5581696271026937E-2</c:v>
                </c:pt>
                <c:pt idx="61">
                  <c:v>6.7403834842959753E-2</c:v>
                </c:pt>
                <c:pt idx="62">
                  <c:v>6.8031212014272757E-2</c:v>
                </c:pt>
                <c:pt idx="63">
                  <c:v>6.26200839116966E-2</c:v>
                </c:pt>
                <c:pt idx="64">
                  <c:v>7.9892561659412609E-2</c:v>
                </c:pt>
                <c:pt idx="65">
                  <c:v>6.4600243108653865E-2</c:v>
                </c:pt>
                <c:pt idx="66">
                  <c:v>4.477904560247814E-2</c:v>
                </c:pt>
                <c:pt idx="67">
                  <c:v>1.4351252793789016E-2</c:v>
                </c:pt>
                <c:pt idx="68">
                  <c:v>2.3703093753675963E-2</c:v>
                </c:pt>
                <c:pt idx="69">
                  <c:v>1.6860761479041697E-2</c:v>
                </c:pt>
                <c:pt idx="70">
                  <c:v>4.0367799866682263E-2</c:v>
                </c:pt>
                <c:pt idx="71">
                  <c:v>4.495549543191002E-2</c:v>
                </c:pt>
                <c:pt idx="72">
                  <c:v>4.5504450456808954E-2</c:v>
                </c:pt>
                <c:pt idx="73">
                  <c:v>6.269850605811067E-2</c:v>
                </c:pt>
                <c:pt idx="74">
                  <c:v>6.6051052817315714E-2</c:v>
                </c:pt>
                <c:pt idx="75">
                  <c:v>8.4323412931812003E-2</c:v>
                </c:pt>
                <c:pt idx="76">
                  <c:v>8.6754499470650392E-2</c:v>
                </c:pt>
                <c:pt idx="77">
                  <c:v>9.71454338705251E-2</c:v>
                </c:pt>
                <c:pt idx="78">
                  <c:v>9.5361330039603232E-2</c:v>
                </c:pt>
                <c:pt idx="79">
                  <c:v>9.9125593067482365E-2</c:v>
                </c:pt>
                <c:pt idx="80">
                  <c:v>9.0499156961926008E-2</c:v>
                </c:pt>
                <c:pt idx="81">
                  <c:v>0.10208602909461639</c:v>
                </c:pt>
                <c:pt idx="82">
                  <c:v>9.9458887189742384E-2</c:v>
                </c:pt>
                <c:pt idx="83">
                  <c:v>0.10096851350821456</c:v>
                </c:pt>
                <c:pt idx="84">
                  <c:v>9.4577108575461644E-2</c:v>
                </c:pt>
                <c:pt idx="85">
                  <c:v>9.4675136258479453E-2</c:v>
                </c:pt>
                <c:pt idx="86">
                  <c:v>0.10512488726816449</c:v>
                </c:pt>
                <c:pt idx="87">
                  <c:v>8.2382464808061773E-2</c:v>
                </c:pt>
                <c:pt idx="88">
                  <c:v>8.0167039171862298E-2</c:v>
                </c:pt>
                <c:pt idx="89">
                  <c:v>7.7539897266988289E-2</c:v>
                </c:pt>
                <c:pt idx="90">
                  <c:v>5.9404775908716623E-2</c:v>
                </c:pt>
                <c:pt idx="91">
                  <c:v>7.1266125553856252E-2</c:v>
                </c:pt>
                <c:pt idx="92">
                  <c:v>7.5932243265498078E-2</c:v>
                </c:pt>
                <c:pt idx="93">
                  <c:v>8.6970160373289307E-2</c:v>
                </c:pt>
                <c:pt idx="94">
                  <c:v>9.612594596714108E-2</c:v>
                </c:pt>
                <c:pt idx="95">
                  <c:v>0.10185076265537396</c:v>
                </c:pt>
                <c:pt idx="96">
                  <c:v>0.10347802219346747</c:v>
                </c:pt>
                <c:pt idx="97">
                  <c:v>0.10392894953534881</c:v>
                </c:pt>
                <c:pt idx="98">
                  <c:v>0.10065482492255806</c:v>
                </c:pt>
                <c:pt idx="99">
                  <c:v>0.11943692898874647</c:v>
                </c:pt>
                <c:pt idx="100">
                  <c:v>0.11408461749598087</c:v>
                </c:pt>
                <c:pt idx="101">
                  <c:v>0.11686860369368302</c:v>
                </c:pt>
                <c:pt idx="102">
                  <c:v>0.12006430616005948</c:v>
                </c:pt>
                <c:pt idx="103">
                  <c:v>0.11759400854801383</c:v>
                </c:pt>
                <c:pt idx="104">
                  <c:v>0.12202485982041322</c:v>
                </c:pt>
                <c:pt idx="105">
                  <c:v>0.12039760028231972</c:v>
                </c:pt>
                <c:pt idx="106">
                  <c:v>0.12488726816452966</c:v>
                </c:pt>
                <c:pt idx="107">
                  <c:v>0.11481002235031168</c:v>
                </c:pt>
                <c:pt idx="108">
                  <c:v>0.11528055522879654</c:v>
                </c:pt>
                <c:pt idx="109">
                  <c:v>0.11324157942202895</c:v>
                </c:pt>
                <c:pt idx="110">
                  <c:v>0.12335803630945374</c:v>
                </c:pt>
                <c:pt idx="111">
                  <c:v>0.11320236834882169</c:v>
                </c:pt>
                <c:pt idx="112">
                  <c:v>0.1237305415049208</c:v>
                </c:pt>
                <c:pt idx="113">
                  <c:v>0.13151393953652502</c:v>
                </c:pt>
                <c:pt idx="114">
                  <c:v>0.12953378033956797</c:v>
                </c:pt>
                <c:pt idx="115">
                  <c:v>0.13629769046778817</c:v>
                </c:pt>
                <c:pt idx="116">
                  <c:v>0.14559071481786456</c:v>
                </c:pt>
                <c:pt idx="117">
                  <c:v>0.13668980119985874</c:v>
                </c:pt>
                <c:pt idx="118">
                  <c:v>0.14163039642395003</c:v>
                </c:pt>
                <c:pt idx="119">
                  <c:v>0.14172842410696784</c:v>
                </c:pt>
                <c:pt idx="120">
                  <c:v>0.1461200643061602</c:v>
                </c:pt>
                <c:pt idx="121">
                  <c:v>0.14423793279222052</c:v>
                </c:pt>
                <c:pt idx="122">
                  <c:v>0.14363016115751104</c:v>
                </c:pt>
                <c:pt idx="123">
                  <c:v>0.13318041014782578</c:v>
                </c:pt>
                <c:pt idx="124">
                  <c:v>0.13563110222326791</c:v>
                </c:pt>
                <c:pt idx="125">
                  <c:v>0.13523899149119711</c:v>
                </c:pt>
                <c:pt idx="126">
                  <c:v>0.1387483825432303</c:v>
                </c:pt>
                <c:pt idx="127">
                  <c:v>0.14059130298396272</c:v>
                </c:pt>
                <c:pt idx="128">
                  <c:v>0.13714072854174009</c:v>
                </c:pt>
                <c:pt idx="129">
                  <c:v>0.11484923342351872</c:v>
                </c:pt>
                <c:pt idx="130">
                  <c:v>0.11955456220836758</c:v>
                </c:pt>
                <c:pt idx="131">
                  <c:v>0.11714308120613248</c:v>
                </c:pt>
                <c:pt idx="132">
                  <c:v>0.13065129592596958</c:v>
                </c:pt>
                <c:pt idx="133">
                  <c:v>0.1587656354154412</c:v>
                </c:pt>
                <c:pt idx="134">
                  <c:v>0.16772536564325757</c:v>
                </c:pt>
                <c:pt idx="135">
                  <c:v>0.17278359408697019</c:v>
                </c:pt>
                <c:pt idx="136">
                  <c:v>0.1739011096733718</c:v>
                </c:pt>
                <c:pt idx="137">
                  <c:v>0.17025447986511377</c:v>
                </c:pt>
                <c:pt idx="138">
                  <c:v>0.17082304042661667</c:v>
                </c:pt>
                <c:pt idx="139">
                  <c:v>0.1632945143708584</c:v>
                </c:pt>
                <c:pt idx="140">
                  <c:v>0.14839430655217023</c:v>
                </c:pt>
                <c:pt idx="141">
                  <c:v>0.15309963533701909</c:v>
                </c:pt>
                <c:pt idx="142">
                  <c:v>0.15731482570677957</c:v>
                </c:pt>
                <c:pt idx="143">
                  <c:v>0.15770693643885036</c:v>
                </c:pt>
                <c:pt idx="144">
                  <c:v>0.16392189154217141</c:v>
                </c:pt>
                <c:pt idx="145">
                  <c:v>0.16752931027722218</c:v>
                </c:pt>
                <c:pt idx="146">
                  <c:v>0.17148962867113671</c:v>
                </c:pt>
                <c:pt idx="147">
                  <c:v>0.17760655609144016</c:v>
                </c:pt>
                <c:pt idx="148">
                  <c:v>0.17403834842959665</c:v>
                </c:pt>
                <c:pt idx="149">
                  <c:v>0.18133160804611204</c:v>
                </c:pt>
                <c:pt idx="150">
                  <c:v>0.18344900599929415</c:v>
                </c:pt>
                <c:pt idx="151">
                  <c:v>0.18399796102419308</c:v>
                </c:pt>
                <c:pt idx="152">
                  <c:v>0.19135003725051947</c:v>
                </c:pt>
                <c:pt idx="153">
                  <c:v>0.18938948359016572</c:v>
                </c:pt>
                <c:pt idx="154">
                  <c:v>0.19164412029957245</c:v>
                </c:pt>
                <c:pt idx="155">
                  <c:v>0.18550758734266548</c:v>
                </c:pt>
                <c:pt idx="156">
                  <c:v>0.18182174646120064</c:v>
                </c:pt>
                <c:pt idx="157">
                  <c:v>0.19095792651844889</c:v>
                </c:pt>
                <c:pt idx="158">
                  <c:v>0.18482139356154192</c:v>
                </c:pt>
                <c:pt idx="159">
                  <c:v>0.18458612712229949</c:v>
                </c:pt>
                <c:pt idx="160">
                  <c:v>0.18964435556601167</c:v>
                </c:pt>
                <c:pt idx="161">
                  <c:v>0.18474297141512763</c:v>
                </c:pt>
                <c:pt idx="162">
                  <c:v>0.14943339999215777</c:v>
                </c:pt>
                <c:pt idx="163">
                  <c:v>0.14908050033329423</c:v>
                </c:pt>
                <c:pt idx="164">
                  <c:v>0.15898129631808011</c:v>
                </c:pt>
                <c:pt idx="165">
                  <c:v>0.16592165627573241</c:v>
                </c:pt>
                <c:pt idx="166">
                  <c:v>0.17888091597067013</c:v>
                </c:pt>
                <c:pt idx="167">
                  <c:v>0.17895933811708442</c:v>
                </c:pt>
                <c:pt idx="168">
                  <c:v>0.16654903344704541</c:v>
                </c:pt>
                <c:pt idx="169">
                  <c:v>0.15323687409324394</c:v>
                </c:pt>
                <c:pt idx="170">
                  <c:v>0.1490412892600872</c:v>
                </c:pt>
                <c:pt idx="171">
                  <c:v>0.14621809198917779</c:v>
                </c:pt>
                <c:pt idx="172">
                  <c:v>0.16054973924636329</c:v>
                </c:pt>
                <c:pt idx="173">
                  <c:v>0.16723522722816919</c:v>
                </c:pt>
                <c:pt idx="174">
                  <c:v>0.15404070109398882</c:v>
                </c:pt>
                <c:pt idx="175">
                  <c:v>0.1557267772418931</c:v>
                </c:pt>
                <c:pt idx="176">
                  <c:v>0.13808179429871004</c:v>
                </c:pt>
                <c:pt idx="177">
                  <c:v>0.13984629259302817</c:v>
                </c:pt>
                <c:pt idx="178">
                  <c:v>0.14141473552131134</c:v>
                </c:pt>
                <c:pt idx="179">
                  <c:v>0.16217699878445657</c:v>
                </c:pt>
                <c:pt idx="180">
                  <c:v>0.15994196761165358</c:v>
                </c:pt>
                <c:pt idx="181">
                  <c:v>0.17158765635415452</c:v>
                </c:pt>
                <c:pt idx="182">
                  <c:v>0.18231188487628902</c:v>
                </c:pt>
                <c:pt idx="183">
                  <c:v>0.18895816178488811</c:v>
                </c:pt>
                <c:pt idx="184">
                  <c:v>0.19544759440065884</c:v>
                </c:pt>
                <c:pt idx="185">
                  <c:v>0.19195780888522918</c:v>
                </c:pt>
                <c:pt idx="186">
                  <c:v>0.17509704740618748</c:v>
                </c:pt>
                <c:pt idx="187">
                  <c:v>0.18519389875700898</c:v>
                </c:pt>
                <c:pt idx="188">
                  <c:v>0.17988079833745041</c:v>
                </c:pt>
                <c:pt idx="189">
                  <c:v>0.18621338666039278</c:v>
                </c:pt>
                <c:pt idx="190">
                  <c:v>0.17990040387405415</c:v>
                </c:pt>
                <c:pt idx="191">
                  <c:v>0.17196016154962157</c:v>
                </c:pt>
                <c:pt idx="192">
                  <c:v>0.17982198172763986</c:v>
                </c:pt>
                <c:pt idx="193">
                  <c:v>0.18460573265890301</c:v>
                </c:pt>
                <c:pt idx="194">
                  <c:v>0.18872289534564568</c:v>
                </c:pt>
                <c:pt idx="195">
                  <c:v>0.17784182253068259</c:v>
                </c:pt>
                <c:pt idx="196">
                  <c:v>0.18584088146492572</c:v>
                </c:pt>
                <c:pt idx="197">
                  <c:v>0.18674273614868819</c:v>
                </c:pt>
                <c:pt idx="198">
                  <c:v>0.18291965651099873</c:v>
                </c:pt>
                <c:pt idx="199">
                  <c:v>0.19540838332745181</c:v>
                </c:pt>
                <c:pt idx="200">
                  <c:v>0.19534956671764125</c:v>
                </c:pt>
                <c:pt idx="201">
                  <c:v>0.19885895776967422</c:v>
                </c:pt>
                <c:pt idx="202">
                  <c:v>0.2016821550405834</c:v>
                </c:pt>
                <c:pt idx="203">
                  <c:v>0.19668274320668155</c:v>
                </c:pt>
                <c:pt idx="204">
                  <c:v>0.17621456299258931</c:v>
                </c:pt>
                <c:pt idx="205">
                  <c:v>0.1708622514998237</c:v>
                </c:pt>
                <c:pt idx="206">
                  <c:v>0.16503940712857301</c:v>
                </c:pt>
                <c:pt idx="207">
                  <c:v>0.1656275732266792</c:v>
                </c:pt>
                <c:pt idx="208">
                  <c:v>0.14702191898992267</c:v>
                </c:pt>
                <c:pt idx="209">
                  <c:v>0.16492177390895169</c:v>
                </c:pt>
                <c:pt idx="210">
                  <c:v>0.14451241030466999</c:v>
                </c:pt>
                <c:pt idx="211">
                  <c:v>0.13096498451162608</c:v>
                </c:pt>
                <c:pt idx="212">
                  <c:v>0.14312041720581892</c:v>
                </c:pt>
                <c:pt idx="213">
                  <c:v>0.12282868682115833</c:v>
                </c:pt>
                <c:pt idx="214">
                  <c:v>0.12912206407089344</c:v>
                </c:pt>
                <c:pt idx="215">
                  <c:v>9.9047170921068295E-2</c:v>
                </c:pt>
                <c:pt idx="216">
                  <c:v>8.9910990863819817E-2</c:v>
                </c:pt>
                <c:pt idx="217">
                  <c:v>9.5694624161863251E-2</c:v>
                </c:pt>
                <c:pt idx="218">
                  <c:v>8.1088499392228286E-2</c:v>
                </c:pt>
                <c:pt idx="219">
                  <c:v>0.10341920558365669</c:v>
                </c:pt>
                <c:pt idx="220">
                  <c:v>0.11192800846959172</c:v>
                </c:pt>
                <c:pt idx="221">
                  <c:v>9.9909814531623731E-2</c:v>
                </c:pt>
                <c:pt idx="222">
                  <c:v>0.11188879739638469</c:v>
                </c:pt>
                <c:pt idx="223">
                  <c:v>0.10867348939340471</c:v>
                </c:pt>
                <c:pt idx="224">
                  <c:v>0.10571305336627068</c:v>
                </c:pt>
                <c:pt idx="225">
                  <c:v>0.12551464533584289</c:v>
                </c:pt>
                <c:pt idx="226">
                  <c:v>0.12822020938713097</c:v>
                </c:pt>
                <c:pt idx="227">
                  <c:v>0.11475120574050113</c:v>
                </c:pt>
                <c:pt idx="228">
                  <c:v>0.1117907697133671</c:v>
                </c:pt>
                <c:pt idx="229">
                  <c:v>8.9401246912127919E-2</c:v>
                </c:pt>
                <c:pt idx="230">
                  <c:v>9.6714112065247271E-2</c:v>
                </c:pt>
                <c:pt idx="231">
                  <c:v>9.9811786848606143E-2</c:v>
                </c:pt>
                <c:pt idx="232">
                  <c:v>0.10677175234286151</c:v>
                </c:pt>
                <c:pt idx="233">
                  <c:v>5.2229149511822115E-2</c:v>
                </c:pt>
                <c:pt idx="234">
                  <c:v>-9.3714464964906874E-3</c:v>
                </c:pt>
                <c:pt idx="235">
                  <c:v>-1.1135944790808927E-2</c:v>
                </c:pt>
                <c:pt idx="236">
                  <c:v>-2.6624318707602956E-2</c:v>
                </c:pt>
                <c:pt idx="237">
                  <c:v>7.5598949143238059E-2</c:v>
                </c:pt>
                <c:pt idx="238">
                  <c:v>2.8467239148335599E-2</c:v>
                </c:pt>
                <c:pt idx="239">
                  <c:v>4.681802140924618E-2</c:v>
                </c:pt>
                <c:pt idx="240">
                  <c:v>5.6973689369878011E-2</c:v>
                </c:pt>
                <c:pt idx="241">
                  <c:v>5.4013253342743983E-2</c:v>
                </c:pt>
                <c:pt idx="242">
                  <c:v>3.0584637101517487E-2</c:v>
                </c:pt>
                <c:pt idx="243">
                  <c:v>3.2055052346782631E-2</c:v>
                </c:pt>
                <c:pt idx="244">
                  <c:v>7.4893149825510097E-3</c:v>
                </c:pt>
                <c:pt idx="245">
                  <c:v>3.3701917421479877E-2</c:v>
                </c:pt>
                <c:pt idx="246">
                  <c:v>4.9719640826569433E-2</c:v>
                </c:pt>
                <c:pt idx="247">
                  <c:v>7.181508057875563E-2</c:v>
                </c:pt>
                <c:pt idx="248">
                  <c:v>7.9559267537152367E-2</c:v>
                </c:pt>
                <c:pt idx="249">
                  <c:v>7.9970983805826901E-2</c:v>
                </c:pt>
                <c:pt idx="250">
                  <c:v>8.6774105007254132E-2</c:v>
                </c:pt>
              </c:numCache>
            </c:numRef>
          </c:val>
          <c:smooth val="0"/>
          <c:extLst>
            <c:ext xmlns:c16="http://schemas.microsoft.com/office/drawing/2014/chart" uri="{C3380CC4-5D6E-409C-BE32-E72D297353CC}">
              <c16:uniqueId val="{00000000-AA72-4C68-88D1-7FE14E9210F0}"/>
            </c:ext>
          </c:extLst>
        </c:ser>
        <c:dLbls>
          <c:showLegendKey val="0"/>
          <c:showVal val="0"/>
          <c:showCatName val="0"/>
          <c:showSerName val="0"/>
          <c:showPercent val="0"/>
          <c:showBubbleSize val="0"/>
        </c:dLbls>
        <c:smooth val="0"/>
        <c:axId val="1403913280"/>
        <c:axId val="1403914240"/>
      </c:lineChart>
      <c:dateAx>
        <c:axId val="1403913280"/>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Inter" panose="02000503000000020004"/>
                <a:ea typeface="+mn-ea"/>
                <a:cs typeface="+mn-cs"/>
              </a:defRPr>
            </a:pPr>
            <a:endParaRPr lang="en-US"/>
          </a:p>
        </c:txPr>
        <c:crossAx val="1403914240"/>
        <c:crosses val="autoZero"/>
        <c:auto val="0"/>
        <c:lblOffset val="1000"/>
        <c:baseTimeUnit val="days"/>
        <c:majorUnit val="60"/>
      </c:dateAx>
      <c:valAx>
        <c:axId val="1403914240"/>
        <c:scaling>
          <c:orientation val="minMax"/>
          <c:min val="-0.1"/>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solidFill>
                <a:latin typeface="Inter" panose="02000503000000020004"/>
                <a:ea typeface="+mn-ea"/>
                <a:cs typeface="+mn-cs"/>
              </a:defRPr>
            </a:pPr>
            <a:endParaRPr lang="en-US"/>
          </a:p>
        </c:txPr>
        <c:crossAx val="1403913280"/>
        <c:crosses val="autoZero"/>
        <c:crossBetween val="between"/>
        <c:maj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a:solidFill>
            <a:schemeClr val="tx1"/>
          </a:solidFill>
          <a:latin typeface="Inter" panose="02000503000000020004"/>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776777-533F-1F46-17A6-3CD27BC5F0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62E372-6FA1-A1FB-D81A-004BBB5AB8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5BA313-476D-7C4B-929B-B38D84B0F007}" type="datetimeFigureOut">
              <a:rPr lang="en-US" smtClean="0"/>
              <a:t>4/30/2025</a:t>
            </a:fld>
            <a:endParaRPr lang="en-US"/>
          </a:p>
        </p:txBody>
      </p:sp>
      <p:sp>
        <p:nvSpPr>
          <p:cNvPr id="4" name="Footer Placeholder 3">
            <a:extLst>
              <a:ext uri="{FF2B5EF4-FFF2-40B4-BE49-F238E27FC236}">
                <a16:creationId xmlns:a16="http://schemas.microsoft.com/office/drawing/2014/main" id="{569B3795-CB85-2700-647A-D0D13EEBCD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C15590F-FAEF-DBF2-01E0-01CE91F946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A69087-9585-DD40-9CDA-0E0C83725E4D}" type="slidenum">
              <a:rPr lang="en-US" smtClean="0"/>
              <a:t>‹#›</a:t>
            </a:fld>
            <a:endParaRPr lang="en-US"/>
          </a:p>
        </p:txBody>
      </p:sp>
    </p:spTree>
    <p:extLst>
      <p:ext uri="{BB962C8B-B14F-4D97-AF65-F5344CB8AC3E}">
        <p14:creationId xmlns:p14="http://schemas.microsoft.com/office/powerpoint/2010/main" val="18993611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1" name="Shape 191"/>
          <p:cNvSpPr>
            <a:spLocks noGrp="1" noRot="1" noChangeAspect="1"/>
          </p:cNvSpPr>
          <p:nvPr>
            <p:ph type="sldImg"/>
          </p:nvPr>
        </p:nvSpPr>
        <p:spPr>
          <a:xfrm>
            <a:off x="1143000" y="685800"/>
            <a:ext cx="4572000" cy="3429000"/>
          </a:xfrm>
          <a:prstGeom prst="rect">
            <a:avLst/>
          </a:prstGeom>
        </p:spPr>
        <p:txBody>
          <a:bodyPr/>
          <a:lstStyle/>
          <a:p>
            <a:endParaRPr/>
          </a:p>
        </p:txBody>
      </p:sp>
      <p:sp>
        <p:nvSpPr>
          <p:cNvPr id="192" name="Shape 1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a:t>Historical daily price data for SPY</a:t>
            </a:r>
          </a:p>
          <a:p>
            <a:pPr algn="l"/>
            <a:r>
              <a:rPr lang="en-US">
                <a:solidFill>
                  <a:srgbClr val="000000"/>
                </a:solidFill>
              </a:rPr>
              <a:t>Tracks the S&amp;P 500 index, representing 500 leading U.S. companies.</a:t>
            </a:r>
            <a:endParaRPr lang="en-US"/>
          </a:p>
          <a:p>
            <a:pPr algn="l"/>
            <a:r>
              <a:rPr lang="en-US">
                <a:solidFill>
                  <a:srgbClr val="000000"/>
                </a:solidFill>
              </a:rPr>
              <a:t>Obtained via Yahoo Finance using the </a:t>
            </a:r>
            <a:r>
              <a:rPr lang="en-US" err="1">
                <a:solidFill>
                  <a:srgbClr val="000000"/>
                </a:solidFill>
              </a:rPr>
              <a:t>yfinance</a:t>
            </a:r>
            <a:r>
              <a:rPr lang="en-US">
                <a:solidFill>
                  <a:srgbClr val="000000"/>
                </a:solidFill>
              </a:rPr>
              <a:t> Python library.</a:t>
            </a:r>
            <a:endParaRPr lang="en-US"/>
          </a:p>
          <a:p>
            <a:pPr algn="l"/>
            <a:r>
              <a:rPr lang="en-US">
                <a:solidFill>
                  <a:srgbClr val="000000"/>
                </a:solidFill>
              </a:rPr>
              <a:t>Reliable and widely used for financial data analysis.</a:t>
            </a:r>
            <a:endParaRPr lang="en-US"/>
          </a:p>
          <a:p>
            <a:pPr algn="l"/>
            <a:r>
              <a:rPr lang="en-US">
                <a:solidFill>
                  <a:srgbClr val="000000"/>
                </a:solidFill>
              </a:rPr>
              <a:t>January 1, 2019, to January 1, 2024 (5 years).</a:t>
            </a:r>
            <a:endParaRPr lang="en-US"/>
          </a:p>
          <a:p>
            <a:pPr algn="l"/>
            <a:r>
              <a:rPr lang="en-US">
                <a:solidFill>
                  <a:srgbClr val="000000"/>
                </a:solidFill>
              </a:rPr>
              <a:t>Covers ~1,260 trading days, including bull and bear markets. (e.g., 2020 COVID crash, 2022 inflation spikes).</a:t>
            </a:r>
          </a:p>
          <a:p>
            <a:pPr algn="l"/>
            <a:r>
              <a:rPr lang="en-US"/>
              <a:t>Columns: Open, High, Low, Close, and Volume.</a:t>
            </a:r>
          </a:p>
          <a:p>
            <a:pPr algn="l"/>
            <a:r>
              <a:rPr lang="en-US"/>
              <a:t>No missing values in raw data</a:t>
            </a:r>
          </a:p>
          <a:p>
            <a:pPr algn="l"/>
            <a:r>
              <a:rPr lang="en-US"/>
              <a:t>Consistent daily records</a:t>
            </a:r>
          </a:p>
          <a:p>
            <a:pPr algn="l"/>
            <a:r>
              <a:rPr lang="en-US"/>
              <a:t>Captures major events: 2020 COVID market crash, 2022 inflation-driven volatility.</a:t>
            </a:r>
          </a:p>
          <a:p>
            <a:pPr algn="l"/>
            <a:r>
              <a:rPr lang="en-US"/>
              <a:t>SPY’s high liquidity makes it ideal for studying market trends.</a:t>
            </a:r>
          </a:p>
          <a:p>
            <a:pPr algn="l"/>
            <a:r>
              <a:rPr lang="en-US"/>
              <a:t>Sufficient for training machine learning models.</a:t>
            </a:r>
          </a:p>
          <a:p>
            <a:pPr algn="l"/>
            <a:endParaRPr lang="en-US"/>
          </a:p>
          <a:p>
            <a:endParaRPr lang="en-US">
              <a:solidFill>
                <a:srgbClr val="000000"/>
              </a:solidFill>
              <a:latin typeface="Helvetica Neue"/>
            </a:endParaRPr>
          </a:p>
        </p:txBody>
      </p:sp>
    </p:spTree>
    <p:extLst>
      <p:ext uri="{BB962C8B-B14F-4D97-AF65-F5344CB8AC3E}">
        <p14:creationId xmlns:p14="http://schemas.microsoft.com/office/powerpoint/2010/main" val="735300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342900" indent="-342900" algn="l">
              <a:buFont typeface="Arial"/>
              <a:buChar char="•"/>
              <a:defRPr/>
            </a:pPr>
            <a:r>
              <a:rPr lang="en-US" b="1"/>
              <a:t>Returns</a:t>
            </a:r>
            <a:r>
              <a:rPr lang="en-US"/>
              <a:t>:</a:t>
            </a:r>
          </a:p>
          <a:p>
            <a:pPr marL="342900" lvl="1" indent="-342900" algn="l">
              <a:buFont typeface="Arial"/>
              <a:buChar char="•"/>
              <a:defRPr/>
            </a:pPr>
            <a:r>
              <a:rPr lang="en-US"/>
              <a:t>Daily percentage change in SPY Close price (spy['Close'].</a:t>
            </a:r>
            <a:r>
              <a:rPr lang="en-US" err="1"/>
              <a:t>pct_change</a:t>
            </a:r>
            <a:r>
              <a:rPr lang="en-US"/>
              <a:t>()).</a:t>
            </a:r>
          </a:p>
          <a:p>
            <a:pPr marL="342900" lvl="1" indent="-342900" algn="l">
              <a:buFont typeface="Arial"/>
              <a:buChar char="•"/>
              <a:defRPr/>
            </a:pPr>
            <a:r>
              <a:rPr lang="en-US"/>
              <a:t>Captures daily price movements.</a:t>
            </a:r>
          </a:p>
          <a:p>
            <a:pPr lvl="1" indent="0" algn="l">
              <a:defRPr/>
            </a:pPr>
            <a:r>
              <a:rPr lang="en-US" b="1"/>
              <a:t>Rolling Volatility</a:t>
            </a:r>
            <a:r>
              <a:rPr lang="en-US"/>
              <a:t>:</a:t>
            </a:r>
          </a:p>
          <a:p>
            <a:pPr marL="342900" indent="-342900" algn="l">
              <a:buFont typeface="Arial"/>
              <a:buChar char="•"/>
              <a:defRPr/>
            </a:pPr>
            <a:r>
              <a:rPr lang="en-US"/>
              <a:t>14-day standard deviation of returns (spy['Return'].rolling(window=14).std()).</a:t>
            </a:r>
          </a:p>
          <a:p>
            <a:pPr marL="342900" indent="-342900" algn="l">
              <a:buFont typeface="Arial"/>
              <a:buChar char="•"/>
              <a:defRPr/>
            </a:pPr>
            <a:r>
              <a:rPr lang="en-US"/>
              <a:t>Measures price swing intensity.</a:t>
            </a:r>
          </a:p>
          <a:p>
            <a:pPr algn="l">
              <a:defRPr/>
            </a:pPr>
            <a:r>
              <a:rPr lang="en-US" b="1"/>
              <a:t>Average True Range (ATR)</a:t>
            </a:r>
            <a:r>
              <a:rPr lang="en-US"/>
              <a:t>:</a:t>
            </a:r>
          </a:p>
          <a:p>
            <a:pPr marL="342900" indent="-342900" algn="l">
              <a:buFont typeface="Arial"/>
              <a:buChar char="•"/>
              <a:defRPr/>
            </a:pPr>
            <a:r>
              <a:rPr lang="en-US"/>
              <a:t>14-day mean of High-Low range (spy['High-Low'].rolling(window=14).mean()).</a:t>
            </a:r>
          </a:p>
          <a:p>
            <a:pPr marL="342900" indent="-342900" algn="l">
              <a:buFont typeface="Arial"/>
              <a:buChar char="•"/>
              <a:defRPr/>
            </a:pPr>
            <a:r>
              <a:rPr lang="en-US"/>
              <a:t>Simplified indicator of daily volatility.</a:t>
            </a:r>
          </a:p>
          <a:p>
            <a:pPr algn="l">
              <a:defRPr/>
            </a:pPr>
            <a:r>
              <a:rPr lang="en-US" b="1"/>
              <a:t>Skewness &amp; Kurtosis</a:t>
            </a:r>
            <a:r>
              <a:rPr lang="en-US"/>
              <a:t>:</a:t>
            </a:r>
          </a:p>
          <a:p>
            <a:pPr marL="342900" indent="-342900" algn="l">
              <a:buFont typeface="Arial"/>
              <a:buChar char="•"/>
              <a:defRPr/>
            </a:pPr>
            <a:r>
              <a:rPr lang="en-US"/>
              <a:t>14-day rolling skew and kurtosis of returns (spy['Return'].rolling(window=14).apply(skew/kurtosis)).</a:t>
            </a:r>
          </a:p>
          <a:p>
            <a:pPr marL="342900" indent="-342900" algn="l">
              <a:buFont typeface="Arial"/>
              <a:buChar char="•"/>
              <a:defRPr/>
            </a:pPr>
            <a:r>
              <a:rPr lang="en-US"/>
              <a:t>Assesses distribution shape of returns.</a:t>
            </a:r>
          </a:p>
          <a:p>
            <a:pPr algn="l">
              <a:defRPr/>
            </a:pPr>
            <a:r>
              <a:rPr lang="en-US" b="1"/>
              <a:t>Average Volume</a:t>
            </a:r>
            <a:r>
              <a:rPr lang="en-US"/>
              <a:t>:</a:t>
            </a:r>
          </a:p>
          <a:p>
            <a:pPr marL="342900" indent="-342900" algn="l">
              <a:buFont typeface="Arial"/>
              <a:buChar char="•"/>
              <a:defRPr/>
            </a:pPr>
            <a:r>
              <a:rPr lang="en-US"/>
              <a:t>14-day mean trading volume (spy['Volume'].rolling(window=14).mean()).</a:t>
            </a:r>
          </a:p>
          <a:p>
            <a:pPr marL="342900" indent="-342900" algn="l">
              <a:buFont typeface="Arial"/>
              <a:buChar char="•"/>
              <a:defRPr/>
            </a:pPr>
            <a:r>
              <a:rPr lang="en-US"/>
              <a:t>Reflects market participation.</a:t>
            </a:r>
          </a:p>
          <a:p>
            <a:pPr indent="0" algn="l">
              <a:defRPr/>
            </a:pPr>
            <a:endParaRPr lang="en-US"/>
          </a:p>
          <a:p>
            <a:pPr lvl="1" indent="0" algn="l"/>
            <a:endParaRPr lang="en-US"/>
          </a:p>
          <a:p>
            <a:pPr lvl="1" algn="l"/>
            <a:endParaRPr lang="en-US"/>
          </a:p>
          <a:p>
            <a:pPr algn="l"/>
            <a:endParaRPr lang="en-US"/>
          </a:p>
          <a:p>
            <a:pPr algn="l"/>
            <a:endParaRPr lang="en-US"/>
          </a:p>
        </p:txBody>
      </p:sp>
    </p:spTree>
    <p:extLst>
      <p:ext uri="{BB962C8B-B14F-4D97-AF65-F5344CB8AC3E}">
        <p14:creationId xmlns:p14="http://schemas.microsoft.com/office/powerpoint/2010/main" val="3425986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lnSpc>
                <a:spcPct val="100000"/>
              </a:lnSpc>
            </a:pPr>
            <a:endParaRPr lang="en-US"/>
          </a:p>
          <a:p>
            <a:pPr algn="l"/>
            <a:r>
              <a:rPr lang="en-US"/>
              <a:t>Defined market regimes: High Volatility (1) if next week’s rolling volatility exceeds historical median; Low Volatility (0) otherwise.</a:t>
            </a:r>
          </a:p>
          <a:p>
            <a:pPr algn="l"/>
            <a:endParaRPr lang="en-US"/>
          </a:p>
          <a:p>
            <a:endParaRPr lang="en-US">
              <a:latin typeface="Calibri"/>
              <a:ea typeface="Calibri"/>
              <a:cs typeface="Calibri"/>
            </a:endParaRPr>
          </a:p>
        </p:txBody>
      </p:sp>
    </p:spTree>
    <p:extLst>
      <p:ext uri="{BB962C8B-B14F-4D97-AF65-F5344CB8AC3E}">
        <p14:creationId xmlns:p14="http://schemas.microsoft.com/office/powerpoint/2010/main" val="2669110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OOB Score = Out of bag score, uses samples not used in the model training to try and make the model unbiased. If its much lower than the other accuracy, overfitting.</a:t>
            </a:r>
          </a:p>
        </p:txBody>
      </p:sp>
    </p:spTree>
    <p:extLst>
      <p:ext uri="{BB962C8B-B14F-4D97-AF65-F5344CB8AC3E}">
        <p14:creationId xmlns:p14="http://schemas.microsoft.com/office/powerpoint/2010/main" val="3190513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Support: number of actual volatility values</a:t>
            </a:r>
          </a:p>
          <a:p>
            <a:r>
              <a:rPr lang="en-US"/>
              <a:t>F1 score: harmonic mean of precision and accuracy</a:t>
            </a:r>
          </a:p>
          <a:p>
            <a:r>
              <a:rPr lang="en-US"/>
              <a:t>Accuracy: proportion of all classifications, high or low vol, that were correct</a:t>
            </a:r>
          </a:p>
          <a:p>
            <a:r>
              <a:rPr lang="en-US"/>
              <a:t>Precision: IE: how many predicted high vol days actually were high vol. = Predicted high vol / correct high vol predictions</a:t>
            </a:r>
          </a:p>
          <a:p>
            <a:r>
              <a:rPr lang="en-US"/>
              <a:t>Recall: IE: how many high volatility days were predicted correctly. = Total high vol / predicted high vol</a:t>
            </a:r>
          </a:p>
          <a:p>
            <a:endParaRPr lang="en-US"/>
          </a:p>
        </p:txBody>
      </p:sp>
    </p:spTree>
    <p:extLst>
      <p:ext uri="{BB962C8B-B14F-4D97-AF65-F5344CB8AC3E}">
        <p14:creationId xmlns:p14="http://schemas.microsoft.com/office/powerpoint/2010/main" val="17271637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eneral">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CB57ED-E388-2261-7CAC-43D04883C264}"/>
              </a:ext>
            </a:extLst>
          </p:cNvPr>
          <p:cNvSpPr/>
          <p:nvPr userDrawn="1"/>
        </p:nvSpPr>
        <p:spPr>
          <a:xfrm>
            <a:off x="0" y="0"/>
            <a:ext cx="24384000" cy="13716000"/>
          </a:xfrm>
          <a:prstGeom prst="rect">
            <a:avLst/>
          </a:prstGeom>
          <a:solidFill>
            <a:srgbClr val="0C111D">
              <a:alpha val="84706"/>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uthor and Date"/>
          <p:cNvSpPr txBox="1">
            <a:spLocks noGrp="1"/>
          </p:cNvSpPr>
          <p:nvPr>
            <p:ph type="body" sz="quarter" idx="21" hasCustomPrompt="1"/>
          </p:nvPr>
        </p:nvSpPr>
        <p:spPr>
          <a:xfrm>
            <a:off x="1201340" y="12154552"/>
            <a:ext cx="22530530" cy="636979"/>
          </a:xfrm>
          <a:prstGeom prst="rect">
            <a:avLst/>
          </a:prstGeom>
        </p:spPr>
        <p:txBody>
          <a:bodyPr lIns="0" tIns="45719" rIns="45719" bIns="45719"/>
          <a:lstStyle>
            <a:lvl1pPr marL="0" indent="0" defTabSz="825500">
              <a:lnSpc>
                <a:spcPct val="100000"/>
              </a:lnSpc>
              <a:spcBef>
                <a:spcPts val="0"/>
              </a:spcBef>
              <a:buSzTx/>
              <a:buNone/>
              <a:defRPr sz="3600" b="0" i="0">
                <a:solidFill>
                  <a:srgbClr val="D5D5D5"/>
                </a:solidFill>
                <a:latin typeface="Poppins Medium" pitchFamily="2" charset="77"/>
                <a:cs typeface="Poppins Medium" pitchFamily="2" charset="77"/>
              </a:defRPr>
            </a:lvl1pPr>
          </a:lstStyle>
          <a:p>
            <a:r>
              <a:t>Author and Date</a:t>
            </a:r>
          </a:p>
        </p:txBody>
      </p:sp>
      <p:sp>
        <p:nvSpPr>
          <p:cNvPr id="12" name="Presentation Title"/>
          <p:cNvSpPr txBox="1">
            <a:spLocks noGrp="1"/>
          </p:cNvSpPr>
          <p:nvPr>
            <p:ph type="title" hasCustomPrompt="1"/>
          </p:nvPr>
        </p:nvSpPr>
        <p:spPr>
          <a:xfrm>
            <a:off x="1206496" y="2574991"/>
            <a:ext cx="22525374" cy="4648201"/>
          </a:xfrm>
          <a:prstGeom prst="rect">
            <a:avLst/>
          </a:prstGeom>
        </p:spPr>
        <p:txBody>
          <a:bodyPr lIns="0" anchor="b"/>
          <a:lstStyle>
            <a:lvl1pPr>
              <a:defRPr sz="11600" b="1" i="0" spc="-232">
                <a:solidFill>
                  <a:schemeClr val="tx1"/>
                </a:solidFill>
                <a:latin typeface="Inter SemiBold" panose="02000503000000020004" pitchFamily="2" charset="0"/>
                <a:ea typeface="Inter SemiBold" panose="02000503000000020004" pitchFamily="2" charset="0"/>
              </a:defRPr>
            </a:lvl1pPr>
          </a:lstStyle>
          <a:p>
            <a:r>
              <a:t>Presentation Title</a:t>
            </a:r>
          </a:p>
        </p:txBody>
      </p:sp>
      <p:sp>
        <p:nvSpPr>
          <p:cNvPr id="13" name="Body Level One…"/>
          <p:cNvSpPr txBox="1">
            <a:spLocks noGrp="1"/>
          </p:cNvSpPr>
          <p:nvPr>
            <p:ph type="body" sz="quarter" idx="1" hasCustomPrompt="1"/>
          </p:nvPr>
        </p:nvSpPr>
        <p:spPr>
          <a:xfrm>
            <a:off x="1201342" y="7223190"/>
            <a:ext cx="22530528" cy="1905001"/>
          </a:xfrm>
          <a:prstGeom prst="rect">
            <a:avLst/>
          </a:prstGeom>
        </p:spPr>
        <p:txBody>
          <a:bodyPr lIns="0"/>
          <a:lstStyle>
            <a:lvl1pPr marL="0" indent="0" defTabSz="825500">
              <a:lnSpc>
                <a:spcPct val="100000"/>
              </a:lnSpc>
              <a:spcBef>
                <a:spcPts val="0"/>
              </a:spcBef>
              <a:buSzTx/>
              <a:buNone/>
              <a:defRPr sz="5500" b="0" i="0">
                <a:solidFill>
                  <a:srgbClr val="D5D5D5"/>
                </a:solidFill>
                <a:latin typeface="Inter Medium" panose="02000503000000020004" pitchFamily="2" charset="0"/>
                <a:ea typeface="Inter Medium" panose="02000503000000020004" pitchFamily="2" charset="0"/>
                <a:cs typeface="Poppins Medium" pitchFamily="2" charset="77"/>
              </a:defRPr>
            </a:lvl1pPr>
            <a:lvl2pPr marL="0" indent="457200" defTabSz="825500">
              <a:lnSpc>
                <a:spcPct val="100000"/>
              </a:lnSpc>
              <a:spcBef>
                <a:spcPts val="0"/>
              </a:spcBef>
              <a:buSzTx/>
              <a:buNone/>
              <a:defRPr sz="5500" b="0" i="0">
                <a:solidFill>
                  <a:srgbClr val="D5D5D5"/>
                </a:solidFill>
                <a:latin typeface="Poppins Medium" pitchFamily="2" charset="77"/>
                <a:cs typeface="Poppins Medium" pitchFamily="2" charset="77"/>
              </a:defRPr>
            </a:lvl2pPr>
            <a:lvl3pPr marL="0" indent="914400" defTabSz="825500">
              <a:lnSpc>
                <a:spcPct val="100000"/>
              </a:lnSpc>
              <a:spcBef>
                <a:spcPts val="0"/>
              </a:spcBef>
              <a:buSzTx/>
              <a:buNone/>
              <a:defRPr sz="5500" b="0" i="0">
                <a:solidFill>
                  <a:srgbClr val="D5D5D5"/>
                </a:solidFill>
                <a:latin typeface="Poppins Medium" pitchFamily="2" charset="77"/>
                <a:cs typeface="Poppins Medium" pitchFamily="2" charset="77"/>
              </a:defRPr>
            </a:lvl3pPr>
            <a:lvl4pPr marL="0" indent="1371600" defTabSz="825500">
              <a:lnSpc>
                <a:spcPct val="100000"/>
              </a:lnSpc>
              <a:spcBef>
                <a:spcPts val="0"/>
              </a:spcBef>
              <a:buSzTx/>
              <a:buNone/>
              <a:defRPr sz="5500" b="0" i="0">
                <a:solidFill>
                  <a:srgbClr val="D5D5D5"/>
                </a:solidFill>
                <a:latin typeface="Poppins Medium" pitchFamily="2" charset="77"/>
                <a:cs typeface="Poppins Medium" pitchFamily="2" charset="77"/>
              </a:defRPr>
            </a:lvl4pPr>
            <a:lvl5pPr marL="0" indent="1828800" defTabSz="825500">
              <a:lnSpc>
                <a:spcPct val="100000"/>
              </a:lnSpc>
              <a:spcBef>
                <a:spcPts val="0"/>
              </a:spcBef>
              <a:buSzTx/>
              <a:buNone/>
              <a:defRPr sz="5500" b="0" i="0">
                <a:solidFill>
                  <a:srgbClr val="D5D5D5"/>
                </a:solidFill>
                <a:latin typeface="Poppins Medium" pitchFamily="2" charset="77"/>
                <a:cs typeface="Poppins Medium" pitchFamily="2" charset="77"/>
              </a:defRPr>
            </a:lvl5pPr>
          </a:lstStyle>
          <a:p>
            <a:r>
              <a:t>Presentation Subtitle</a:t>
            </a:r>
          </a:p>
          <a:p>
            <a:pPr lvl="1"/>
            <a:endParaRPr/>
          </a:p>
          <a:p>
            <a:pPr lvl="2"/>
            <a:endParaRPr/>
          </a:p>
          <a:p>
            <a:pPr lvl="3"/>
            <a:endParaRPr/>
          </a:p>
          <a:p>
            <a:pPr lvl="4"/>
            <a:endParaRPr/>
          </a:p>
        </p:txBody>
      </p:sp>
      <p:pic>
        <p:nvPicPr>
          <p:cNvPr id="4" name="Picture 3">
            <a:extLst>
              <a:ext uri="{FF2B5EF4-FFF2-40B4-BE49-F238E27FC236}">
                <a16:creationId xmlns:a16="http://schemas.microsoft.com/office/drawing/2014/main" id="{4D62AAA5-C244-1EAD-2BC7-07AD55BBB3F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2145552" y="13080986"/>
            <a:ext cx="1642508" cy="226659"/>
          </a:xfrm>
          <a:prstGeom prst="rect">
            <a:avLst/>
          </a:prstGeom>
        </p:spPr>
      </p:pic>
      <p:cxnSp>
        <p:nvCxnSpPr>
          <p:cNvPr id="5" name="Straight Connector 4">
            <a:extLst>
              <a:ext uri="{FF2B5EF4-FFF2-40B4-BE49-F238E27FC236}">
                <a16:creationId xmlns:a16="http://schemas.microsoft.com/office/drawing/2014/main" id="{53947A55-4C4D-D6EC-C9AF-68C36E3CB15D}"/>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CBC97255-0884-8B0D-FB68-1CBD2DCBF4ED}"/>
              </a:ext>
            </a:extLst>
          </p:cNvPr>
          <p:cNvSpPr txBox="1"/>
          <p:nvPr userDrawn="1"/>
        </p:nvSpPr>
        <p:spPr>
          <a:xfrm>
            <a:off x="1201340" y="12983103"/>
            <a:ext cx="12192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rIns="0">
            <a:spAutoFit/>
          </a:bodyPr>
          <a:lstStyle/>
          <a:p>
            <a:pPr algn="l"/>
            <a:r>
              <a:rPr lang="en-US" sz="1200">
                <a:solidFill>
                  <a:srgbClr val="D3D3D3"/>
                </a:solidFill>
              </a:rPr>
              <a:t>©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3672506428"/>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B948B25D-BC1D-522F-3028-8FB5F20EBEA5}"/>
              </a:ext>
            </a:extLst>
          </p:cNvPr>
          <p:cNvSpPr>
            <a:spLocks noGrp="1"/>
          </p:cNvSpPr>
          <p:nvPr>
            <p:ph idx="1"/>
          </p:nvPr>
        </p:nvSpPr>
        <p:spPr>
          <a:xfrm>
            <a:off x="914400" y="3209366"/>
            <a:ext cx="22481241" cy="914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799"/>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4" name="Slide Number">
            <a:extLst>
              <a:ext uri="{FF2B5EF4-FFF2-40B4-BE49-F238E27FC236}">
                <a16:creationId xmlns:a16="http://schemas.microsoft.com/office/drawing/2014/main" id="{E3029983-65FA-A49F-7DE4-4080D73632D3}"/>
              </a:ext>
            </a:extLst>
          </p:cNvPr>
          <p:cNvSpPr txBox="1">
            <a:spLocks noGrp="1"/>
          </p:cNvSpPr>
          <p:nvPr>
            <p:ph type="sldNum" sz="quarter" idx="2"/>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7395791"/>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D7139-5A64-A10F-2EAB-BD702394E4E5}"/>
              </a:ext>
            </a:extLst>
          </p:cNvPr>
          <p:cNvSpPr>
            <a:spLocks noGrp="1"/>
          </p:cNvSpPr>
          <p:nvPr>
            <p:ph sz="half" idx="1"/>
          </p:nvPr>
        </p:nvSpPr>
        <p:spPr>
          <a:xfrm>
            <a:off x="914400"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91B195-19A4-1223-7B33-C6B612B2CD5E}"/>
              </a:ext>
            </a:extLst>
          </p:cNvPr>
          <p:cNvSpPr>
            <a:spLocks noGrp="1"/>
          </p:cNvSpPr>
          <p:nvPr>
            <p:ph sz="half" idx="2"/>
          </p:nvPr>
        </p:nvSpPr>
        <p:spPr>
          <a:xfrm>
            <a:off x="13142258"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D426FA0E-AED5-5ACC-6263-82A574D87B8B}"/>
              </a:ext>
            </a:extLst>
          </p:cNvPr>
          <p:cNvSpPr>
            <a:spLocks noGrp="1"/>
          </p:cNvSpPr>
          <p:nvPr>
            <p:ph type="body" sz="quarter" idx="13" hasCustomPrompt="1"/>
          </p:nvPr>
        </p:nvSpPr>
        <p:spPr>
          <a:xfrm>
            <a:off x="914399" y="685800"/>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1" name="Slide Number">
            <a:extLst>
              <a:ext uri="{FF2B5EF4-FFF2-40B4-BE49-F238E27FC236}">
                <a16:creationId xmlns:a16="http://schemas.microsoft.com/office/drawing/2014/main" id="{E4D1432D-D7E0-7FBA-904B-A22566B27F70}"/>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
        <p:nvSpPr>
          <p:cNvPr id="12" name="Title 1">
            <a:extLst>
              <a:ext uri="{FF2B5EF4-FFF2-40B4-BE49-F238E27FC236}">
                <a16:creationId xmlns:a16="http://schemas.microsoft.com/office/drawing/2014/main" id="{5E0526D6-879B-8512-B5E0-7F149445EC8F}"/>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Tree>
    <p:extLst>
      <p:ext uri="{BB962C8B-B14F-4D97-AF65-F5344CB8AC3E}">
        <p14:creationId xmlns:p14="http://schemas.microsoft.com/office/powerpoint/2010/main" val="15532777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1" y="5876364"/>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401" y="5419164"/>
            <a:ext cx="10381129" cy="457200"/>
          </a:xfrm>
        </p:spPr>
        <p:txBody>
          <a:bodyPr anchor="ctr">
            <a:noAutofit/>
          </a:bodyPr>
          <a:lstStyle>
            <a:lvl1pPr marL="0" indent="0">
              <a:buNone/>
              <a:defRPr sz="2400" b="1" i="0" spc="600">
                <a:solidFill>
                  <a:schemeClr val="tx2">
                    <a:lumMod val="75000"/>
                    <a:lumOff val="25000"/>
                  </a:schemeClr>
                </a:solidFill>
                <a:latin typeface="Poppins" pitchFamily="2" charset="77"/>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5" name="Slide Number">
            <a:extLst>
              <a:ext uri="{FF2B5EF4-FFF2-40B4-BE49-F238E27FC236}">
                <a16:creationId xmlns:a16="http://schemas.microsoft.com/office/drawing/2014/main" id="{BED4083A-D6B9-AA23-8113-C671D5AC6F98}"/>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086505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0" y="1143000"/>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800"/>
            <a:ext cx="1038112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pic>
        <p:nvPicPr>
          <p:cNvPr id="3" name="Picture 2">
            <a:extLst>
              <a:ext uri="{FF2B5EF4-FFF2-40B4-BE49-F238E27FC236}">
                <a16:creationId xmlns:a16="http://schemas.microsoft.com/office/drawing/2014/main" id="{95FA3695-C6C3-6C1E-A6C2-E05C7E726E01}"/>
              </a:ext>
            </a:extLst>
          </p:cNvPr>
          <p:cNvPicPr>
            <a:picLocks noChangeAspect="1"/>
          </p:cNvPicPr>
          <p:nvPr userDrawn="1"/>
        </p:nvPicPr>
        <p:blipFill>
          <a:blip r:embed="rId2">
            <a:extLst>
              <a:ext uri="{28A0092B-C50C-407E-A947-70E740481C1C}">
                <a14:useLocalDpi xmlns:a14="http://schemas.microsoft.com/office/drawing/2010/main" val="0"/>
              </a:ext>
            </a:extLst>
          </a:blip>
          <a:srcRect l="17127" r="17127"/>
          <a:stretch/>
        </p:blipFill>
        <p:spPr>
          <a:xfrm>
            <a:off x="12266382" y="0"/>
            <a:ext cx="13037657" cy="13716000"/>
          </a:xfrm>
          <a:prstGeom prst="rect">
            <a:avLst/>
          </a:prstGeom>
        </p:spPr>
      </p:pic>
      <p:sp>
        <p:nvSpPr>
          <p:cNvPr id="6" name="Rectangle 5">
            <a:extLst>
              <a:ext uri="{FF2B5EF4-FFF2-40B4-BE49-F238E27FC236}">
                <a16:creationId xmlns:a16="http://schemas.microsoft.com/office/drawing/2014/main" id="{01988D3D-5496-22F7-3C2C-365C0644652D}"/>
              </a:ext>
            </a:extLst>
          </p:cNvPr>
          <p:cNvSpPr/>
          <p:nvPr userDrawn="1"/>
        </p:nvSpPr>
        <p:spPr>
          <a:xfrm>
            <a:off x="12266382" y="0"/>
            <a:ext cx="13037657" cy="13716000"/>
          </a:xfrm>
          <a:prstGeom prst="rect">
            <a:avLst/>
          </a:prstGeom>
          <a:solidFill>
            <a:schemeClr val="tx1">
              <a:alpha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Text Placeholder 9">
            <a:extLst>
              <a:ext uri="{FF2B5EF4-FFF2-40B4-BE49-F238E27FC236}">
                <a16:creationId xmlns:a16="http://schemas.microsoft.com/office/drawing/2014/main" id="{600F98A0-D6C1-5488-4341-E74D3B851E1A}"/>
              </a:ext>
            </a:extLst>
          </p:cNvPr>
          <p:cNvSpPr>
            <a:spLocks noGrp="1"/>
          </p:cNvSpPr>
          <p:nvPr>
            <p:ph type="body" sz="quarter" idx="15"/>
          </p:nvPr>
        </p:nvSpPr>
        <p:spPr>
          <a:xfrm>
            <a:off x="914400" y="3886200"/>
            <a:ext cx="10380663" cy="8490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0664033"/>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1">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9E2FA4-E544-D2EB-A0FC-11608BB1FF68}"/>
              </a:ext>
            </a:extLst>
          </p:cNvPr>
          <p:cNvSpPr/>
          <p:nvPr userDrawn="1"/>
        </p:nvSpPr>
        <p:spPr>
          <a:xfrm>
            <a:off x="0" y="0"/>
            <a:ext cx="24384000" cy="13716000"/>
          </a:xfrm>
          <a:prstGeom prst="rect">
            <a:avLst/>
          </a:prstGeom>
          <a:solidFill>
            <a:srgbClr val="0C111D">
              <a:alpha val="85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Disclaimer - This is a preliminary draft for discussion purposes only and is not intended for public or media distribution. Warranty - Bonjoy, LLC and its affiliates offer no warranty regarding the information in this draft; and in no circumstances will ">
            <a:extLst>
              <a:ext uri="{FF2B5EF4-FFF2-40B4-BE49-F238E27FC236}">
                <a16:creationId xmlns:a16="http://schemas.microsoft.com/office/drawing/2014/main" id="{EE8DE6D1-3953-2F21-D710-12914EBE492C}"/>
              </a:ext>
            </a:extLst>
          </p:cNvPr>
          <p:cNvSpPr txBox="1"/>
          <p:nvPr userDrawn="1"/>
        </p:nvSpPr>
        <p:spPr>
          <a:xfrm>
            <a:off x="1201340" y="11800123"/>
            <a:ext cx="22736622" cy="833220"/>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12531" tIns="12531" rIns="12531" bIns="12531"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algn="just"/>
            <a:r>
              <a:rPr lang="en-US" sz="1050">
                <a:solidFill>
                  <a:schemeClr val="bg2">
                    <a:lumMod val="75000"/>
                  </a:schemeClr>
                </a:solidFill>
                <a:latin typeface="Poppins" pitchFamily="2" charset="77"/>
                <a:cs typeface="Poppins" pitchFamily="2" charset="77"/>
              </a:rPr>
              <a:t>© 2025 Southern Methodist University | CONFIDENTIAL: This presentation and its contents are proprietary and confidential information belonging to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The materials may contain sensitive information protected by applicable laws and regulations. Unauthorized use, disclosure, or distribution of this document or any of its contents is strictly prohibited. If you are not the intended recipient, please notify the sender immediately and delete this document along with any copies in your possession. Any unauthorized review, use, disclosure, or distribution is prohibited and may result in legal action. While every effort has been made to ensure the accuracy and reliability of the information presented,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makes no representations or warranties of any kind, express or implied, regarding its completeness or suitability. All information is provided "as is" without any warranty. This presentation may contain forward-looking statements regarding future events or performance. These statements involve risks and uncertainties that could cause actual results to differ materially from those expressed or implied. In no event shall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or Southern Methodist University be liable for any direct, indirect, incidental, special, consequential, or punitive damages arising out of or related to the use of this presentation or its contents. For questions regarding this presentation or its contents, please contact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a:t>
            </a:r>
          </a:p>
        </p:txBody>
      </p:sp>
      <p:cxnSp>
        <p:nvCxnSpPr>
          <p:cNvPr id="15" name="Straight Connector 14">
            <a:extLst>
              <a:ext uri="{FF2B5EF4-FFF2-40B4-BE49-F238E27FC236}">
                <a16:creationId xmlns:a16="http://schemas.microsoft.com/office/drawing/2014/main" id="{B8541D7D-14D2-9CC9-5361-3B6109E5ABB9}"/>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pic>
        <p:nvPicPr>
          <p:cNvPr id="3" name="Picture 2">
            <a:extLst>
              <a:ext uri="{FF2B5EF4-FFF2-40B4-BE49-F238E27FC236}">
                <a16:creationId xmlns:a16="http://schemas.microsoft.com/office/drawing/2014/main" id="{4295DB26-4C39-DFFB-3330-0B6E49A56DF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196692" y="6079793"/>
            <a:ext cx="10253532" cy="1414943"/>
          </a:xfrm>
          <a:prstGeom prst="rect">
            <a:avLst/>
          </a:prstGeom>
        </p:spPr>
      </p:pic>
    </p:spTree>
    <p:extLst>
      <p:ext uri="{BB962C8B-B14F-4D97-AF65-F5344CB8AC3E}">
        <p14:creationId xmlns:p14="http://schemas.microsoft.com/office/powerpoint/2010/main" val="2267106217"/>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441451"/>
            <a:ext cx="21971000" cy="825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50800" rIns="50800" bIns="50800">
            <a:normAutofit/>
          </a:bodyPr>
          <a:lstStyle/>
          <a:p>
            <a:r>
              <a:rPr lang="en-US"/>
              <a:t>Slide Title</a:t>
            </a:r>
            <a:endParaRP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50800" rIns="50800" bIns="50800">
            <a:normAutofit/>
          </a:bodyPr>
          <a:lstStyle/>
          <a:p>
            <a:r>
              <a:t>Slide bullet text</a:t>
            </a:r>
            <a:endParaRPr lang="en-US"/>
          </a:p>
          <a:p>
            <a:pPr lvl="1"/>
            <a:endParaRPr/>
          </a:p>
          <a:p>
            <a:pPr lvl="3"/>
            <a:endParaRPr/>
          </a:p>
          <a:p>
            <a:pPr lvl="4"/>
            <a:endParaRPr/>
          </a:p>
        </p:txBody>
      </p:sp>
    </p:spTree>
  </p:cSld>
  <p:clrMap bg1="lt1" tx1="dk1" bg2="lt2" tx2="dk2" accent1="accent1" accent2="accent2" accent3="accent3" accent4="accent4" accent5="accent5" accent6="accent6" hlink="hlink" folHlink="folHlink"/>
  <p:sldLayoutIdLst>
    <p:sldLayoutId id="2147483670" r:id="rId1"/>
  </p:sldLayoutIdLst>
  <p:transition spd="med"/>
  <p:hf hdr="0" ftr="0" dt="0"/>
  <p:txStyles>
    <p:titleStyle>
      <a:lvl1pPr marL="0" marR="0" indent="0" algn="l" defTabSz="2438338" rtl="0" eaLnBrk="1" latinLnBrk="0" hangingPunct="1">
        <a:lnSpc>
          <a:spcPct val="80000"/>
        </a:lnSpc>
        <a:spcBef>
          <a:spcPts val="0"/>
        </a:spcBef>
        <a:spcAft>
          <a:spcPts val="0"/>
        </a:spcAft>
        <a:buClrTx/>
        <a:buSzTx/>
        <a:buFontTx/>
        <a:buNone/>
        <a:tabLst/>
        <a:defRPr sz="7200" b="1" i="0" u="none" strike="noStrike" cap="none" spc="-170" baseline="0">
          <a:solidFill>
            <a:srgbClr val="2B3145"/>
          </a:solidFill>
          <a:uFillTx/>
          <a:latin typeface="Inter" panose="02000503000000020004" pitchFamily="2" charset="0"/>
          <a:ea typeface="Inter" panose="02000503000000020004" pitchFamily="2" charset="0"/>
          <a:cs typeface="Poppins SemiBold" pitchFamily="2" charset="77"/>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Inter" panose="02000503000000020004" pitchFamily="2" charset="0"/>
          <a:ea typeface="Inter" panose="02000503000000020004" pitchFamily="2" charset="0"/>
          <a:cs typeface="Poppins" pitchFamily="2" charset="77"/>
          <a:sym typeface="Helvetica Neue"/>
        </a:defRPr>
      </a:lvl1pPr>
      <a:lvl2pPr marL="12192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2pPr>
      <a:lvl3pPr marL="1219200" marR="0" indent="0" algn="l" defTabSz="2438338" rtl="0" eaLnBrk="1" latinLnBrk="0" hangingPunct="1">
        <a:lnSpc>
          <a:spcPct val="150000"/>
        </a:lnSpc>
        <a:spcBef>
          <a:spcPts val="2000"/>
        </a:spcBef>
        <a:spcAft>
          <a:spcPts val="0"/>
        </a:spcAft>
        <a:buClrTx/>
        <a:buSzPct val="123000"/>
        <a:buFontTx/>
        <a:buNone/>
        <a:tabLst/>
        <a:defRPr sz="2800" b="0" i="0" u="none" strike="noStrike" cap="none" spc="0" baseline="0">
          <a:solidFill>
            <a:srgbClr val="667085"/>
          </a:solidFill>
          <a:uFillTx/>
          <a:latin typeface="Poppins" pitchFamily="2" charset="77"/>
          <a:ea typeface="+mn-ea"/>
          <a:cs typeface="Poppins" pitchFamily="2" charset="77"/>
          <a:sym typeface="Helvetica Neue"/>
        </a:defRPr>
      </a:lvl3pPr>
      <a:lvl4pPr marL="24384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4pPr>
      <a:lvl5pPr marL="30480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	</a:t>
            </a:r>
          </a:p>
        </p:txBody>
      </p:sp>
      <p:pic>
        <p:nvPicPr>
          <p:cNvPr id="8" name="BJ-DarkBlue.png">
            <a:extLst>
              <a:ext uri="{FF2B5EF4-FFF2-40B4-BE49-F238E27FC236}">
                <a16:creationId xmlns:a16="http://schemas.microsoft.com/office/drawing/2014/main" id="{EBC81B96-2AD3-4C7B-42C3-4E85A376957F}"/>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1116561" y="12956158"/>
            <a:ext cx="2328369" cy="320040"/>
          </a:xfrm>
          <a:prstGeom prst="rect">
            <a:avLst/>
          </a:prstGeom>
          <a:ln w="12700">
            <a:miter lim="400000"/>
          </a:ln>
        </p:spPr>
      </p:pic>
      <p:sp>
        <p:nvSpPr>
          <p:cNvPr id="4" name="TextBox 3">
            <a:extLst>
              <a:ext uri="{FF2B5EF4-FFF2-40B4-BE49-F238E27FC236}">
                <a16:creationId xmlns:a16="http://schemas.microsoft.com/office/drawing/2014/main" id="{8623C628-D01E-0CD6-9E10-2D31F5508938}"/>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rgbClr val="D3D3D3"/>
                </a:solidFill>
              </a:rPr>
              <a:t> © 2025 </a:t>
            </a:r>
            <a:r>
              <a:rPr lang="en-US" sz="1200" err="1">
                <a:solidFill>
                  <a:srgbClr val="D3D3D3"/>
                </a:solidFill>
              </a:rPr>
              <a:t>Traders@SMU</a:t>
            </a:r>
            <a:r>
              <a:rPr lang="en-US" sz="1200">
                <a:solidFill>
                  <a:srgbClr val="D3D3D3"/>
                </a:solidFill>
              </a:rPr>
              <a:t> | CONFIDENTIAL</a:t>
            </a:r>
          </a:p>
        </p:txBody>
      </p:sp>
      <p:cxnSp>
        <p:nvCxnSpPr>
          <p:cNvPr id="5" name="Straight Connector 4">
            <a:extLst>
              <a:ext uri="{FF2B5EF4-FFF2-40B4-BE49-F238E27FC236}">
                <a16:creationId xmlns:a16="http://schemas.microsoft.com/office/drawing/2014/main" id="{E72A9C8E-7D47-8715-6846-12FC5D5EC226}"/>
              </a:ext>
            </a:extLst>
          </p:cNvPr>
          <p:cNvCxnSpPr/>
          <p:nvPr userDrawn="1"/>
        </p:nvCxnSpPr>
        <p:spPr>
          <a:xfrm>
            <a:off x="914400" y="12658216"/>
            <a:ext cx="22530530"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10439736"/>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ftr="0" dt="0"/>
  <p:txStyles>
    <p:titleStyle>
      <a:lvl1pPr algn="l" defTabSz="914400" rtl="0" eaLnBrk="1" latinLnBrk="0" hangingPunct="1">
        <a:lnSpc>
          <a:spcPct val="9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BJ-DarkBlue.png">
            <a:extLst>
              <a:ext uri="{FF2B5EF4-FFF2-40B4-BE49-F238E27FC236}">
                <a16:creationId xmlns:a16="http://schemas.microsoft.com/office/drawing/2014/main" id="{AB37DC0E-6461-9329-6B50-14369B1D6666}"/>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1116561" y="12956158"/>
            <a:ext cx="2328369" cy="320040"/>
          </a:xfrm>
          <a:prstGeom prst="rect">
            <a:avLst/>
          </a:prstGeom>
          <a:ln w="12700">
            <a:miter lim="400000"/>
          </a:ln>
        </p:spPr>
      </p:pic>
      <p:sp>
        <p:nvSpPr>
          <p:cNvPr id="9" name="TextBox 8">
            <a:extLst>
              <a:ext uri="{FF2B5EF4-FFF2-40B4-BE49-F238E27FC236}">
                <a16:creationId xmlns:a16="http://schemas.microsoft.com/office/drawing/2014/main" id="{9F195239-E345-BB77-B973-7BB6BDB34EAA}"/>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rgbClr val="D3D3D3"/>
                </a:solidFill>
              </a:rPr>
              <a:t> ©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1484328305"/>
      </p:ext>
    </p:extLst>
  </p:cSld>
  <p:clrMap bg1="lt1" tx1="dk1" bg2="lt2" tx2="dk2" accent1="accent1" accent2="accent2" accent3="accent3" accent4="accent4" accent5="accent5" accent6="accent6" hlink="hlink" folHlink="folHlink"/>
  <p:sldLayoutIdLst>
    <p:sldLayoutId id="2147483700" r:id="rId1"/>
    <p:sldLayoutId id="2147483696" r:id="rId2"/>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9153514"/>
      </p:ext>
    </p:extLst>
  </p:cSld>
  <p:clrMap bg1="lt1" tx1="dk1" bg2="lt2" tx2="dk2" accent1="accent1" accent2="accent2" accent3="accent3" accent4="accent4" accent5="accent5" accent6="accent6" hlink="hlink" folHlink="folHlink"/>
  <p:sldLayoutIdLst>
    <p:sldLayoutId id="2147483706" r:id="rId1"/>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audio" Target="../media/audio1.wav"/><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065272-B427-C3B2-BCA4-56F952DB8AED}"/>
              </a:ext>
            </a:extLst>
          </p:cNvPr>
          <p:cNvSpPr>
            <a:spLocks noGrp="1"/>
          </p:cNvSpPr>
          <p:nvPr>
            <p:ph type="body" sz="quarter" idx="21"/>
          </p:nvPr>
        </p:nvSpPr>
        <p:spPr/>
        <p:txBody>
          <a:bodyPr lIns="0" tIns="45719" rIns="45719" bIns="45719" anchor="t">
            <a:normAutofit lnSpcReduction="10000"/>
          </a:bodyPr>
          <a:lstStyle/>
          <a:p>
            <a:r>
              <a:rPr lang="en-US">
                <a:latin typeface="Poppins Medium"/>
                <a:cs typeface="Poppins Medium"/>
              </a:rPr>
              <a:t>Lucas Bernal, Will Zimmer, Aryan Bonigala</a:t>
            </a:r>
            <a:endParaRPr lang="en-US"/>
          </a:p>
        </p:txBody>
      </p:sp>
      <p:sp>
        <p:nvSpPr>
          <p:cNvPr id="3" name="Title 2">
            <a:extLst>
              <a:ext uri="{FF2B5EF4-FFF2-40B4-BE49-F238E27FC236}">
                <a16:creationId xmlns:a16="http://schemas.microsoft.com/office/drawing/2014/main" id="{B4FDFE16-9A3E-3152-D929-C68158E4998E}"/>
              </a:ext>
            </a:extLst>
          </p:cNvPr>
          <p:cNvSpPr>
            <a:spLocks noGrp="1"/>
          </p:cNvSpPr>
          <p:nvPr>
            <p:ph type="title"/>
          </p:nvPr>
        </p:nvSpPr>
        <p:spPr/>
        <p:txBody>
          <a:bodyPr/>
          <a:lstStyle/>
          <a:p>
            <a:r>
              <a:rPr lang="en-US"/>
              <a:t>Predicting Volatility</a:t>
            </a:r>
          </a:p>
        </p:txBody>
      </p:sp>
      <p:sp>
        <p:nvSpPr>
          <p:cNvPr id="4" name="Text Placeholder 3">
            <a:extLst>
              <a:ext uri="{FF2B5EF4-FFF2-40B4-BE49-F238E27FC236}">
                <a16:creationId xmlns:a16="http://schemas.microsoft.com/office/drawing/2014/main" id="{BE8DB9D5-247C-DD66-A9E9-DED0842B7033}"/>
              </a:ext>
            </a:extLst>
          </p:cNvPr>
          <p:cNvSpPr>
            <a:spLocks noGrp="1"/>
          </p:cNvSpPr>
          <p:nvPr>
            <p:ph type="body" sz="quarter" idx="1"/>
          </p:nvPr>
        </p:nvSpPr>
        <p:spPr/>
        <p:txBody>
          <a:bodyPr/>
          <a:lstStyle/>
          <a:p>
            <a:r>
              <a:rPr lang="en-US"/>
              <a:t>Volatility Machine Learning Model</a:t>
            </a:r>
          </a:p>
        </p:txBody>
      </p:sp>
    </p:spTree>
    <p:extLst>
      <p:ext uri="{BB962C8B-B14F-4D97-AF65-F5344CB8AC3E}">
        <p14:creationId xmlns:p14="http://schemas.microsoft.com/office/powerpoint/2010/main" val="148590951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0120-5D7C-AED5-C808-D154FBBB509D}"/>
              </a:ext>
            </a:extLst>
          </p:cNvPr>
          <p:cNvSpPr>
            <a:spLocks noGrp="1"/>
          </p:cNvSpPr>
          <p:nvPr>
            <p:ph type="title"/>
          </p:nvPr>
        </p:nvSpPr>
        <p:spPr/>
        <p:txBody>
          <a:bodyPr/>
          <a:lstStyle/>
          <a:p>
            <a:r>
              <a:rPr lang="en-US"/>
              <a:t>Agenda</a:t>
            </a:r>
          </a:p>
        </p:txBody>
      </p:sp>
      <p:sp>
        <p:nvSpPr>
          <p:cNvPr id="4" name="Text Placeholder 3">
            <a:extLst>
              <a:ext uri="{FF2B5EF4-FFF2-40B4-BE49-F238E27FC236}">
                <a16:creationId xmlns:a16="http://schemas.microsoft.com/office/drawing/2014/main" id="{DC21E3BA-9ED9-DE5F-1A1D-F51EE48DC6DA}"/>
              </a:ext>
            </a:extLst>
          </p:cNvPr>
          <p:cNvSpPr>
            <a:spLocks noGrp="1"/>
          </p:cNvSpPr>
          <p:nvPr>
            <p:ph type="body" sz="quarter" idx="13"/>
          </p:nvPr>
        </p:nvSpPr>
        <p:spPr/>
        <p:txBody>
          <a:bodyPr/>
          <a:lstStyle/>
          <a:p>
            <a:r>
              <a:rPr lang="en-US">
                <a:solidFill>
                  <a:schemeClr val="tx2">
                    <a:lumMod val="75000"/>
                    <a:lumOff val="25000"/>
                  </a:schemeClr>
                </a:solidFill>
              </a:rPr>
              <a:t>SESSION</a:t>
            </a:r>
          </a:p>
        </p:txBody>
      </p:sp>
      <p:sp>
        <p:nvSpPr>
          <p:cNvPr id="3" name="Content Placeholder 2">
            <a:extLst>
              <a:ext uri="{FF2B5EF4-FFF2-40B4-BE49-F238E27FC236}">
                <a16:creationId xmlns:a16="http://schemas.microsoft.com/office/drawing/2014/main" id="{67376405-A736-F70F-6BFC-69505CA7DFE0}"/>
              </a:ext>
            </a:extLst>
          </p:cNvPr>
          <p:cNvSpPr>
            <a:spLocks noGrp="1"/>
          </p:cNvSpPr>
          <p:nvPr>
            <p:ph type="body" sz="quarter" idx="15"/>
          </p:nvPr>
        </p:nvSpPr>
        <p:spPr/>
        <p:txBody>
          <a:bodyPr>
            <a:normAutofit/>
          </a:bodyPr>
          <a:lstStyle/>
          <a:p>
            <a:pPr marL="0" marR="0" algn="l">
              <a:buFont typeface="Courier New" panose="02070309020205020404" pitchFamily="49" charset="0"/>
              <a:buChar char="o"/>
            </a:pPr>
            <a:r>
              <a:rPr lang="en-US" sz="6000" b="0" i="0">
                <a:solidFill>
                  <a:srgbClr val="242424"/>
                </a:solidFill>
                <a:effectLst/>
                <a:latin typeface="inherit"/>
              </a:rPr>
              <a:t>Introduction/Motivation</a:t>
            </a:r>
            <a:endParaRPr lang="en-US" sz="6000" b="0" i="0">
              <a:solidFill>
                <a:srgbClr val="242424"/>
              </a:solidFill>
              <a:effectLst/>
              <a:latin typeface="Aptos" panose="020B0004020202020204" pitchFamily="34" charset="0"/>
            </a:endParaRPr>
          </a:p>
          <a:p>
            <a:pPr marL="0" marR="0" algn="l">
              <a:buFont typeface="Courier New" panose="02070309020205020404" pitchFamily="49" charset="0"/>
              <a:buChar char="o"/>
            </a:pPr>
            <a:r>
              <a:rPr lang="en-US" sz="6000" b="0" i="0">
                <a:solidFill>
                  <a:srgbClr val="242424"/>
                </a:solidFill>
                <a:effectLst/>
                <a:latin typeface="inherit"/>
              </a:rPr>
              <a:t>Data Description</a:t>
            </a:r>
            <a:endParaRPr lang="en-US" sz="6000" b="0" i="0">
              <a:solidFill>
                <a:srgbClr val="242424"/>
              </a:solidFill>
              <a:effectLst/>
              <a:latin typeface="Aptos" panose="020B0004020202020204" pitchFamily="34" charset="0"/>
            </a:endParaRPr>
          </a:p>
          <a:p>
            <a:pPr marL="0" marR="0" algn="l">
              <a:buFont typeface="Courier New" panose="02070309020205020404" pitchFamily="49" charset="0"/>
              <a:buChar char="o"/>
            </a:pPr>
            <a:r>
              <a:rPr lang="en-US" sz="6000" b="0" i="0">
                <a:solidFill>
                  <a:srgbClr val="242424"/>
                </a:solidFill>
                <a:effectLst/>
                <a:latin typeface="inherit"/>
              </a:rPr>
              <a:t>Methodology</a:t>
            </a:r>
            <a:endParaRPr lang="en-US" sz="6000" b="0" i="0">
              <a:solidFill>
                <a:srgbClr val="242424"/>
              </a:solidFill>
              <a:effectLst/>
              <a:latin typeface="Aptos" panose="020B0004020202020204" pitchFamily="34" charset="0"/>
            </a:endParaRPr>
          </a:p>
          <a:p>
            <a:pPr marL="0" marR="0" algn="l">
              <a:buFont typeface="Courier New" panose="02070309020205020404" pitchFamily="49" charset="0"/>
              <a:buChar char="o"/>
            </a:pPr>
            <a:r>
              <a:rPr lang="en-US" sz="6000" b="0" i="0">
                <a:solidFill>
                  <a:srgbClr val="242424"/>
                </a:solidFill>
                <a:effectLst/>
                <a:latin typeface="inherit"/>
              </a:rPr>
              <a:t>Results &amp; Analysis</a:t>
            </a:r>
            <a:endParaRPr lang="en-US" sz="6000" b="0" i="0">
              <a:solidFill>
                <a:srgbClr val="242424"/>
              </a:solidFill>
              <a:effectLst/>
              <a:latin typeface="Aptos" panose="020B0004020202020204" pitchFamily="34" charset="0"/>
            </a:endParaRPr>
          </a:p>
          <a:p>
            <a:pPr marL="0" marR="0" algn="l">
              <a:buFont typeface="Courier New" panose="02070309020205020404" pitchFamily="49" charset="0"/>
              <a:buChar char="o"/>
            </a:pPr>
            <a:r>
              <a:rPr lang="en-US" sz="6000" b="0" i="0">
                <a:solidFill>
                  <a:srgbClr val="242424"/>
                </a:solidFill>
                <a:effectLst/>
                <a:latin typeface="inherit"/>
              </a:rPr>
              <a:t>Conclusion &amp; Future Work</a:t>
            </a:r>
            <a:endParaRPr lang="en-US" sz="6000" b="0" i="0">
              <a:solidFill>
                <a:srgbClr val="242424"/>
              </a:solidFill>
              <a:effectLst/>
              <a:latin typeface="Aptos" panose="020B0004020202020204" pitchFamily="34" charset="0"/>
            </a:endParaRPr>
          </a:p>
          <a:p>
            <a:endParaRPr lang="en-US" sz="6000"/>
          </a:p>
        </p:txBody>
      </p:sp>
    </p:spTree>
    <p:extLst>
      <p:ext uri="{BB962C8B-B14F-4D97-AF65-F5344CB8AC3E}">
        <p14:creationId xmlns:p14="http://schemas.microsoft.com/office/powerpoint/2010/main" val="150582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40C4E-4396-0F28-5699-21BA9AFF53C9}"/>
              </a:ext>
            </a:extLst>
          </p:cNvPr>
          <p:cNvSpPr>
            <a:spLocks noGrp="1"/>
          </p:cNvSpPr>
          <p:nvPr>
            <p:ph type="title"/>
          </p:nvPr>
        </p:nvSpPr>
        <p:spPr/>
        <p:txBody>
          <a:bodyPr/>
          <a:lstStyle/>
          <a:p>
            <a:r>
              <a:rPr lang="en-US"/>
              <a:t>Introduction + Motivation</a:t>
            </a:r>
          </a:p>
        </p:txBody>
      </p:sp>
      <p:sp>
        <p:nvSpPr>
          <p:cNvPr id="3" name="Content Placeholder 2">
            <a:extLst>
              <a:ext uri="{FF2B5EF4-FFF2-40B4-BE49-F238E27FC236}">
                <a16:creationId xmlns:a16="http://schemas.microsoft.com/office/drawing/2014/main" id="{B459024D-4E10-F5C5-8178-BBD9C3E290C0}"/>
              </a:ext>
            </a:extLst>
          </p:cNvPr>
          <p:cNvSpPr>
            <a:spLocks noGrp="1"/>
          </p:cNvSpPr>
          <p:nvPr>
            <p:ph idx="1"/>
          </p:nvPr>
        </p:nvSpPr>
        <p:spPr>
          <a:xfrm>
            <a:off x="558800" y="6466057"/>
            <a:ext cx="11311020" cy="4648200"/>
          </a:xfrm>
          <a:ln w="57150">
            <a:solidFill>
              <a:schemeClr val="tx2"/>
            </a:solidFill>
          </a:ln>
        </p:spPr>
        <p:txBody>
          <a:bodyPr vert="horz" lIns="91440" tIns="45720" rIns="91440" bIns="45720" rtlCol="0" anchor="t">
            <a:noAutofit/>
          </a:bodyPr>
          <a:lstStyle/>
          <a:p>
            <a:r>
              <a:rPr lang="en-US" sz="3200">
                <a:solidFill>
                  <a:schemeClr val="tx1"/>
                </a:solidFill>
                <a:latin typeface="Inter"/>
                <a:cs typeface="Poppins"/>
              </a:rPr>
              <a:t>Created Machine Learning model to predict volatility</a:t>
            </a:r>
          </a:p>
          <a:p>
            <a:r>
              <a:rPr lang="en-US" sz="3200">
                <a:solidFill>
                  <a:schemeClr val="tx1"/>
                </a:solidFill>
                <a:latin typeface="Inter"/>
                <a:cs typeface="Poppins"/>
              </a:rPr>
              <a:t>Recent market volatility has driven large gains/losses </a:t>
            </a:r>
          </a:p>
          <a:p>
            <a:r>
              <a:rPr lang="en-US" sz="3200">
                <a:solidFill>
                  <a:schemeClr val="tx1"/>
                </a:solidFill>
                <a:latin typeface="Inter"/>
                <a:cs typeface="Poppins"/>
              </a:rPr>
              <a:t>Wanted to create a model to predict future volatility </a:t>
            </a:r>
          </a:p>
          <a:p>
            <a:pPr lvl="1"/>
            <a:r>
              <a:rPr lang="en-US" sz="3200">
                <a:solidFill>
                  <a:schemeClr val="tx1"/>
                </a:solidFill>
                <a:latin typeface="Inter"/>
                <a:cs typeface="Poppins"/>
              </a:rPr>
              <a:t>Inform investment decisions based on model outputs</a:t>
            </a:r>
          </a:p>
        </p:txBody>
      </p:sp>
      <p:sp>
        <p:nvSpPr>
          <p:cNvPr id="4" name="Text Placeholder 3">
            <a:extLst>
              <a:ext uri="{FF2B5EF4-FFF2-40B4-BE49-F238E27FC236}">
                <a16:creationId xmlns:a16="http://schemas.microsoft.com/office/drawing/2014/main" id="{052BBF47-4639-0A62-6009-AFAD5F88287A}"/>
              </a:ext>
            </a:extLst>
          </p:cNvPr>
          <p:cNvSpPr>
            <a:spLocks noGrp="1"/>
          </p:cNvSpPr>
          <p:nvPr>
            <p:ph type="body" sz="quarter" idx="13"/>
          </p:nvPr>
        </p:nvSpPr>
        <p:spPr/>
        <p:txBody>
          <a:bodyPr/>
          <a:lstStyle/>
          <a:p>
            <a:r>
              <a:rPr lang="en-US"/>
              <a:t>1</a:t>
            </a:r>
          </a:p>
        </p:txBody>
      </p:sp>
      <p:sp>
        <p:nvSpPr>
          <p:cNvPr id="5" name="Slide Number Placeholder 4">
            <a:extLst>
              <a:ext uri="{FF2B5EF4-FFF2-40B4-BE49-F238E27FC236}">
                <a16:creationId xmlns:a16="http://schemas.microsoft.com/office/drawing/2014/main" id="{2F651E3A-92C8-D8FD-451A-533254BA1BED}"/>
              </a:ext>
            </a:extLst>
          </p:cNvPr>
          <p:cNvSpPr>
            <a:spLocks noGrp="1"/>
          </p:cNvSpPr>
          <p:nvPr>
            <p:ph type="sldNum" sz="quarter" idx="2"/>
          </p:nvPr>
        </p:nvSpPr>
        <p:spPr/>
        <p:txBody>
          <a:bodyPr/>
          <a:lstStyle/>
          <a:p>
            <a:fld id="{86CB4B4D-7CA3-9044-876B-883B54F8677D}" type="slidenum">
              <a:rPr lang="en-US" smtClean="0"/>
              <a:pPr/>
              <a:t>3</a:t>
            </a:fld>
            <a:endParaRPr lang="en-US"/>
          </a:p>
        </p:txBody>
      </p:sp>
      <p:sp>
        <p:nvSpPr>
          <p:cNvPr id="6" name="Content Placeholder 2">
            <a:extLst>
              <a:ext uri="{FF2B5EF4-FFF2-40B4-BE49-F238E27FC236}">
                <a16:creationId xmlns:a16="http://schemas.microsoft.com/office/drawing/2014/main" id="{032060D4-BF58-0F46-CE56-8F797B7327ED}"/>
              </a:ext>
            </a:extLst>
          </p:cNvPr>
          <p:cNvSpPr txBox="1">
            <a:spLocks/>
          </p:cNvSpPr>
          <p:nvPr/>
        </p:nvSpPr>
        <p:spPr>
          <a:xfrm>
            <a:off x="914399" y="2781299"/>
            <a:ext cx="23145752" cy="1990274"/>
          </a:xfrm>
          <a:prstGeom prst="rect">
            <a:avLst/>
          </a:prstGeom>
          <a:ln w="38100">
            <a:solidFill>
              <a:schemeClr val="tx1"/>
            </a:solidFill>
          </a:ln>
        </p:spPr>
        <p:txBody>
          <a:bodyPr vert="horz" lIns="91440" tIns="45720" rIns="91440" bIns="45720" rtlCol="0" anchor="ct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0" i="1">
                <a:solidFill>
                  <a:schemeClr val="tx1"/>
                </a:solidFill>
                <a:effectLst/>
                <a:latin typeface="Inter" panose="02000503000000020004"/>
              </a:rPr>
              <a:t>"Volatility is the price of admission. The prize inside are superior long-term returns. You have to pay the price to get the returns.“ -Morgan Housel</a:t>
            </a:r>
            <a:endParaRPr lang="en-US" sz="4000">
              <a:solidFill>
                <a:schemeClr val="tx1"/>
              </a:solidFill>
              <a:latin typeface="Inter" panose="02000503000000020004"/>
            </a:endParaRPr>
          </a:p>
        </p:txBody>
      </p:sp>
      <p:sp>
        <p:nvSpPr>
          <p:cNvPr id="7" name="Content Placeholder 2">
            <a:extLst>
              <a:ext uri="{FF2B5EF4-FFF2-40B4-BE49-F238E27FC236}">
                <a16:creationId xmlns:a16="http://schemas.microsoft.com/office/drawing/2014/main" id="{D858C565-9B96-1253-D86A-C78B516BA1A7}"/>
              </a:ext>
            </a:extLst>
          </p:cNvPr>
          <p:cNvSpPr txBox="1">
            <a:spLocks/>
          </p:cNvSpPr>
          <p:nvPr/>
        </p:nvSpPr>
        <p:spPr>
          <a:xfrm>
            <a:off x="558800" y="5246856"/>
            <a:ext cx="11323720" cy="1219201"/>
          </a:xfrm>
          <a:prstGeom prst="rect">
            <a:avLst/>
          </a:prstGeom>
          <a:solidFill>
            <a:schemeClr val="tx2"/>
          </a:solidFill>
          <a:ln w="38100">
            <a:solidFill>
              <a:schemeClr val="tx2"/>
            </a:solidFill>
          </a:ln>
        </p:spPr>
        <p:txBody>
          <a:bodyPr vert="horz" lIns="91440" tIns="45720" rIns="91440" bIns="45720" rtlCol="0" anchor="ct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6000" b="1">
                <a:solidFill>
                  <a:schemeClr val="bg1"/>
                </a:solidFill>
                <a:effectLst/>
                <a:latin typeface="Inter" panose="02000503000000020004"/>
              </a:rPr>
              <a:t>What did we do?</a:t>
            </a:r>
            <a:endParaRPr lang="en-US" sz="6000" b="1">
              <a:solidFill>
                <a:schemeClr val="bg1"/>
              </a:solidFill>
              <a:latin typeface="Inter" panose="02000503000000020004"/>
            </a:endParaRPr>
          </a:p>
        </p:txBody>
      </p:sp>
      <p:cxnSp>
        <p:nvCxnSpPr>
          <p:cNvPr id="11" name="Straight Connector 10">
            <a:extLst>
              <a:ext uri="{FF2B5EF4-FFF2-40B4-BE49-F238E27FC236}">
                <a16:creationId xmlns:a16="http://schemas.microsoft.com/office/drawing/2014/main" id="{C5062D15-6F44-8611-427E-77E99319D160}"/>
              </a:ext>
            </a:extLst>
          </p:cNvPr>
          <p:cNvCxnSpPr/>
          <p:nvPr/>
        </p:nvCxnSpPr>
        <p:spPr>
          <a:xfrm>
            <a:off x="12363450" y="6172200"/>
            <a:ext cx="0" cy="6172200"/>
          </a:xfrm>
          <a:prstGeom prst="line">
            <a:avLst/>
          </a:prstGeom>
          <a:ln w="57150"/>
        </p:spPr>
        <p:style>
          <a:lnRef idx="2">
            <a:schemeClr val="accent1"/>
          </a:lnRef>
          <a:fillRef idx="0">
            <a:schemeClr val="accent1"/>
          </a:fillRef>
          <a:effectRef idx="1">
            <a:schemeClr val="accent1"/>
          </a:effectRef>
          <a:fontRef idx="minor">
            <a:schemeClr val="tx1"/>
          </a:fontRef>
        </p:style>
      </p:cxnSp>
      <p:graphicFrame>
        <p:nvGraphicFramePr>
          <p:cNvPr id="12" name="Chart 11">
            <a:extLst>
              <a:ext uri="{FF2B5EF4-FFF2-40B4-BE49-F238E27FC236}">
                <a16:creationId xmlns:a16="http://schemas.microsoft.com/office/drawing/2014/main" id="{FE76370D-1C0C-159B-2328-54EE06907E43}"/>
              </a:ext>
            </a:extLst>
          </p:cNvPr>
          <p:cNvGraphicFramePr>
            <a:graphicFrameLocks/>
          </p:cNvGraphicFramePr>
          <p:nvPr>
            <p:extLst>
              <p:ext uri="{D42A27DB-BD31-4B8C-83A1-F6EECF244321}">
                <p14:modId xmlns:p14="http://schemas.microsoft.com/office/powerpoint/2010/main" val="782691549"/>
              </p:ext>
            </p:extLst>
          </p:nvPr>
        </p:nvGraphicFramePr>
        <p:xfrm>
          <a:off x="13078461" y="5838824"/>
          <a:ext cx="10822069" cy="6457954"/>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angle 8">
            <a:extLst>
              <a:ext uri="{FF2B5EF4-FFF2-40B4-BE49-F238E27FC236}">
                <a16:creationId xmlns:a16="http://schemas.microsoft.com/office/drawing/2014/main" id="{29B48015-CA71-5012-77EA-83D116C3B3C6}"/>
              </a:ext>
            </a:extLst>
          </p:cNvPr>
          <p:cNvSpPr/>
          <p:nvPr/>
        </p:nvSpPr>
        <p:spPr>
          <a:xfrm>
            <a:off x="22315735" y="7401827"/>
            <a:ext cx="919650" cy="2909492"/>
          </a:xfrm>
          <a:prstGeom prst="rect">
            <a:avLst/>
          </a:prstGeom>
          <a:solidFill>
            <a:srgbClr val="FF0000">
              <a:alpha val="10000"/>
            </a:srgbClr>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2A730509-E8B2-C1AF-A9BF-44ECFE78DC5B}"/>
              </a:ext>
            </a:extLst>
          </p:cNvPr>
          <p:cNvSpPr txBox="1">
            <a:spLocks/>
          </p:cNvSpPr>
          <p:nvPr/>
        </p:nvSpPr>
        <p:spPr>
          <a:xfrm>
            <a:off x="12576810" y="5246856"/>
            <a:ext cx="11323720" cy="1219201"/>
          </a:xfrm>
          <a:prstGeom prst="rect">
            <a:avLst/>
          </a:prstGeom>
          <a:solidFill>
            <a:schemeClr val="tx2"/>
          </a:solidFill>
          <a:ln w="38100">
            <a:solidFill>
              <a:schemeClr val="tx2"/>
            </a:solidFill>
          </a:ln>
        </p:spPr>
        <p:txBody>
          <a:bodyPr vert="horz" lIns="91440" tIns="45720" rIns="91440" bIns="45720" rtlCol="0" anchor="ct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6000" b="1">
                <a:solidFill>
                  <a:schemeClr val="bg1"/>
                </a:solidFill>
                <a:effectLst/>
                <a:latin typeface="Inter" panose="02000503000000020004"/>
              </a:rPr>
              <a:t>SPY Returns</a:t>
            </a:r>
            <a:endParaRPr lang="en-US" sz="6000" b="1">
              <a:solidFill>
                <a:schemeClr val="bg1"/>
              </a:solidFill>
              <a:latin typeface="Inter" panose="02000503000000020004"/>
            </a:endParaRPr>
          </a:p>
        </p:txBody>
      </p:sp>
    </p:spTree>
    <p:extLst>
      <p:ext uri="{BB962C8B-B14F-4D97-AF65-F5344CB8AC3E}">
        <p14:creationId xmlns:p14="http://schemas.microsoft.com/office/powerpoint/2010/main" val="2204278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CC632-7764-568A-C7FC-9F4AC39163DB}"/>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1353D64-8A59-23E8-97F9-2C0035D495F7}"/>
              </a:ext>
            </a:extLst>
          </p:cNvPr>
          <p:cNvSpPr>
            <a:spLocks noGrp="1"/>
          </p:cNvSpPr>
          <p:nvPr>
            <p:ph sz="half" idx="1"/>
          </p:nvPr>
        </p:nvSpPr>
        <p:spPr>
          <a:xfrm>
            <a:off x="914400" y="5784865"/>
            <a:ext cx="10367712" cy="2980323"/>
          </a:xfrm>
        </p:spPr>
        <p:txBody>
          <a:bodyPr vert="horz" lIns="91440" tIns="45720" rIns="91440" bIns="45720" rtlCol="0" anchor="t">
            <a:normAutofit/>
          </a:bodyPr>
          <a:lstStyle/>
          <a:p>
            <a:pPr>
              <a:buNone/>
            </a:pPr>
            <a:r>
              <a:rPr lang="en-US"/>
              <a:t>Can a machine learning model accurately predict future SPY (S&amp;P 500 ETF) market volatility using historical price, volume, and technical indicators?</a:t>
            </a:r>
          </a:p>
          <a:p>
            <a:pPr marL="0" indent="0">
              <a:buNone/>
            </a:pPr>
            <a:endParaRPr lang="en-US"/>
          </a:p>
        </p:txBody>
      </p:sp>
      <p:sp>
        <p:nvSpPr>
          <p:cNvPr id="8" name="Content Placeholder 7">
            <a:extLst>
              <a:ext uri="{FF2B5EF4-FFF2-40B4-BE49-F238E27FC236}">
                <a16:creationId xmlns:a16="http://schemas.microsoft.com/office/drawing/2014/main" id="{227667D5-5935-CE03-825F-BA74CFB52F59}"/>
              </a:ext>
            </a:extLst>
          </p:cNvPr>
          <p:cNvSpPr>
            <a:spLocks noGrp="1"/>
          </p:cNvSpPr>
          <p:nvPr>
            <p:ph sz="half" idx="2"/>
          </p:nvPr>
        </p:nvSpPr>
        <p:spPr>
          <a:xfrm>
            <a:off x="12900130" y="5786538"/>
            <a:ext cx="10539289" cy="5685171"/>
          </a:xfrm>
        </p:spPr>
        <p:txBody>
          <a:bodyPr vert="horz" lIns="91440" tIns="45720" rIns="91440" bIns="45720" rtlCol="0" anchor="t">
            <a:normAutofit/>
          </a:bodyPr>
          <a:lstStyle/>
          <a:p>
            <a:r>
              <a:rPr lang="en-US">
                <a:latin typeface="Inter"/>
                <a:cs typeface="Poppins"/>
              </a:rPr>
              <a:t>A machine learning model (e.g., Random Forest Classifier) can effectively forecast high or low volatility periods.</a:t>
            </a:r>
          </a:p>
          <a:p>
            <a:r>
              <a:rPr lang="en-US">
                <a:latin typeface="Inter"/>
                <a:cs typeface="Poppins"/>
              </a:rPr>
              <a:t>Features like returns, rolling volatility, ATR, skewness, kurtosis, and Bollinger Bands enable accurate predictions.</a:t>
            </a:r>
          </a:p>
          <a:p>
            <a:r>
              <a:rPr lang="en-US">
                <a:latin typeface="Inter"/>
                <a:cs typeface="Poppins"/>
              </a:rPr>
              <a:t>Model outputs can inform investment and risk management decisions.</a:t>
            </a:r>
          </a:p>
          <a:p>
            <a:endParaRPr lang="en-US"/>
          </a:p>
        </p:txBody>
      </p:sp>
      <p:sp>
        <p:nvSpPr>
          <p:cNvPr id="9" name="Text Placeholder 8">
            <a:extLst>
              <a:ext uri="{FF2B5EF4-FFF2-40B4-BE49-F238E27FC236}">
                <a16:creationId xmlns:a16="http://schemas.microsoft.com/office/drawing/2014/main" id="{7E653C0D-868B-9F63-0E72-191ABEBFF3BE}"/>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2C9F0A59-4189-BD56-FCCF-D5DF402014F4}"/>
              </a:ext>
            </a:extLst>
          </p:cNvPr>
          <p:cNvSpPr>
            <a:spLocks noGrp="1"/>
          </p:cNvSpPr>
          <p:nvPr>
            <p:ph type="sldNum" sz="quarter" idx="14"/>
          </p:nvPr>
        </p:nvSpPr>
        <p:spPr/>
        <p:txBody>
          <a:bodyPr/>
          <a:lstStyle/>
          <a:p>
            <a:fld id="{86CB4B4D-7CA3-9044-876B-883B54F8677D}" type="slidenum">
              <a:rPr lang="en-US" smtClean="0"/>
              <a:pPr/>
              <a:t>4</a:t>
            </a:fld>
            <a:endParaRPr lang="en-US"/>
          </a:p>
        </p:txBody>
      </p:sp>
      <p:sp>
        <p:nvSpPr>
          <p:cNvPr id="6" name="Title 5">
            <a:extLst>
              <a:ext uri="{FF2B5EF4-FFF2-40B4-BE49-F238E27FC236}">
                <a16:creationId xmlns:a16="http://schemas.microsoft.com/office/drawing/2014/main" id="{7227299B-8512-10B0-622E-C1DC7995537D}"/>
              </a:ext>
            </a:extLst>
          </p:cNvPr>
          <p:cNvSpPr>
            <a:spLocks noGrp="1"/>
          </p:cNvSpPr>
          <p:nvPr>
            <p:ph type="title"/>
          </p:nvPr>
        </p:nvSpPr>
        <p:spPr/>
        <p:txBody>
          <a:bodyPr/>
          <a:lstStyle/>
          <a:p>
            <a:r>
              <a:rPr lang="en-US">
                <a:latin typeface="Inter"/>
                <a:cs typeface="Poppins SemiBold"/>
              </a:rPr>
              <a:t>Hypothesis</a:t>
            </a:r>
            <a:endParaRPr lang="en-US"/>
          </a:p>
        </p:txBody>
      </p:sp>
      <p:sp>
        <p:nvSpPr>
          <p:cNvPr id="4" name="Content Placeholder 2">
            <a:extLst>
              <a:ext uri="{FF2B5EF4-FFF2-40B4-BE49-F238E27FC236}">
                <a16:creationId xmlns:a16="http://schemas.microsoft.com/office/drawing/2014/main" id="{E4370805-0373-83AA-D057-4E5564C1F261}"/>
              </a:ext>
            </a:extLst>
          </p:cNvPr>
          <p:cNvSpPr txBox="1">
            <a:spLocks/>
          </p:cNvSpPr>
          <p:nvPr/>
        </p:nvSpPr>
        <p:spPr>
          <a:xfrm>
            <a:off x="918340" y="3417487"/>
            <a:ext cx="10294264" cy="1421055"/>
          </a:xfrm>
          <a:prstGeom prst="rect">
            <a:avLst/>
          </a:prstGeom>
          <a:solidFill>
            <a:schemeClr val="tx2"/>
          </a:solidFill>
          <a:ln w="38100">
            <a:solidFill>
              <a:schemeClr val="tx2"/>
            </a:solidFill>
          </a:ln>
        </p:spPr>
        <p:txBody>
          <a:bodyPr vert="horz" lIns="91440" tIns="45720" rIns="91440" bIns="4572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228600" marR="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kumimoji="0" sz="2800" b="0" i="0" u="none" strike="noStrike" kern="1200" cap="none" spc="0" normalizeH="0" baseline="0">
                <a:ln>
                  <a:noFill/>
                </a:ln>
                <a:solidFill>
                  <a:srgbClr val="667085"/>
                </a:solidFill>
                <a:effectLst/>
                <a:uFillTx/>
                <a:latin typeface="Inter" panose="02000503000000020004" pitchFamily="2" charset="0"/>
                <a:ea typeface="Inter" panose="02000503000000020004" pitchFamily="2" charset="0"/>
                <a:cs typeface="Poppins" pitchFamily="2" charset="77"/>
                <a:sym typeface="Helvetica Neue"/>
              </a:defRPr>
            </a:lvl1pPr>
            <a:lvl2pPr marL="685800" marR="0"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kumimoji="0" sz="2400" b="0" i="0" u="none" strike="noStrike" kern="1200" cap="none" spc="0" normalizeH="0" baseline="0">
                <a:ln>
                  <a:noFill/>
                </a:ln>
                <a:solidFill>
                  <a:srgbClr val="667085"/>
                </a:solidFill>
                <a:effectLst/>
                <a:uFillTx/>
                <a:latin typeface="Inter" panose="02000503000000020004" pitchFamily="2" charset="0"/>
                <a:ea typeface="Inter" panose="02000503000000020004" pitchFamily="2" charset="0"/>
                <a:cs typeface="Poppins" pitchFamily="2" charset="77"/>
                <a:sym typeface="Helvetica Neue"/>
              </a:defRPr>
            </a:lvl2pPr>
            <a:lvl3pPr marL="1143000" marR="0"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kumimoji="0" sz="2000" b="0" i="0" u="none" strike="noStrike" kern="1200" cap="none" spc="0" normalizeH="0" baseline="0">
                <a:ln>
                  <a:noFill/>
                </a:ln>
                <a:solidFill>
                  <a:srgbClr val="667085"/>
                </a:solidFill>
                <a:effectLst/>
                <a:uFillTx/>
                <a:latin typeface="Inter" panose="02000503000000020004" pitchFamily="2" charset="0"/>
                <a:ea typeface="Inter" panose="02000503000000020004" pitchFamily="2" charset="0"/>
                <a:cs typeface="Poppins" pitchFamily="2" charset="77"/>
                <a:sym typeface="Helvetica Neue"/>
              </a:defRPr>
            </a:lvl3pPr>
            <a:lvl4pPr marL="1600200" marR="0"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kumimoji="0" sz="1800" b="0" i="0" u="none" strike="noStrike" kern="1200" cap="none" spc="0" normalizeH="0" baseline="0">
                <a:ln>
                  <a:noFill/>
                </a:ln>
                <a:solidFill>
                  <a:srgbClr val="667085"/>
                </a:solidFill>
                <a:effectLst/>
                <a:uFillTx/>
                <a:latin typeface="Inter" panose="02000503000000020004" pitchFamily="2" charset="0"/>
                <a:ea typeface="Inter" panose="02000503000000020004" pitchFamily="2" charset="0"/>
                <a:cs typeface="Poppins" pitchFamily="2" charset="77"/>
                <a:sym typeface="Helvetica Neue"/>
              </a:defRPr>
            </a:lvl4pPr>
            <a:lvl5pPr marL="2057400" marR="0"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kumimoji="0" sz="1800" b="0" i="0" u="none" strike="noStrike" kern="1200" cap="none" spc="0" normalizeH="0" baseline="0">
                <a:ln>
                  <a:noFill/>
                </a:ln>
                <a:solidFill>
                  <a:srgbClr val="667085"/>
                </a:solidFill>
                <a:effectLst/>
                <a:uFillTx/>
                <a:latin typeface="Inter" panose="02000503000000020004" pitchFamily="2" charset="0"/>
                <a:ea typeface="Inter" panose="02000503000000020004" pitchFamily="2" charset="0"/>
                <a:cs typeface="Poppins" pitchFamily="2" charset="77"/>
                <a:sym typeface="Helvetica Neue"/>
              </a:defRPr>
            </a:lvl5pPr>
            <a:lvl6pPr marL="2286000" marR="0" indent="0" algn="l" defTabSz="914400" rtl="0" eaLnBrk="1" fontAlgn="auto" latinLnBrk="0" hangingPunct="1">
              <a:lnSpc>
                <a:spcPct val="150000"/>
              </a:lnSpc>
              <a:spcBef>
                <a:spcPts val="500"/>
              </a:spcBef>
              <a:spcAft>
                <a:spcPts val="0"/>
              </a:spcAft>
              <a:buClrTx/>
              <a:buSzTx/>
              <a:buFont typeface="Arial" panose="020B0604020202020204" pitchFamily="34" charset="0"/>
              <a:buNone/>
              <a:tabLst/>
              <a:defRPr kumimoji="0" sz="1800" b="0" i="0" u="none" strike="noStrike" kern="1200" cap="none" spc="0" normalizeH="0" baseline="0">
                <a:ln>
                  <a:noFill/>
                </a:ln>
                <a:solidFill>
                  <a:schemeClr val="tx1"/>
                </a:solidFill>
                <a:effectLst/>
                <a:uFillTx/>
                <a:latin typeface="Inter" panose="02000503000000020004" pitchFamily="2" charset="0"/>
                <a:ea typeface="Inter" panose="02000503000000020004" pitchFamily="2" charset="0"/>
                <a:cs typeface="+mn-cs"/>
                <a:sym typeface="Helvetica Neue"/>
              </a:defRPr>
            </a:lvl6pPr>
            <a:lvl7pPr marL="2971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kumimoji="0" sz="1800" b="0" i="0" u="none" strike="noStrike" kern="1200" cap="none" spc="0" normalizeH="0" baseline="0">
                <a:ln>
                  <a:noFill/>
                </a:ln>
                <a:solidFill>
                  <a:schemeClr val="tx1"/>
                </a:solidFill>
                <a:effectLst/>
                <a:uFillTx/>
                <a:latin typeface="+mn-lt"/>
                <a:ea typeface="+mn-ea"/>
                <a:cs typeface="+mn-cs"/>
                <a:sym typeface="Helvetica Neue"/>
              </a:defRPr>
            </a:lvl7pPr>
            <a:lvl8pPr marL="3429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kumimoji="0" sz="1800" b="0" i="0" u="none" strike="noStrike" kern="1200" cap="none" spc="0" normalizeH="0" baseline="0">
                <a:ln>
                  <a:noFill/>
                </a:ln>
                <a:solidFill>
                  <a:schemeClr val="tx1"/>
                </a:solidFill>
                <a:effectLst/>
                <a:uFillTx/>
                <a:latin typeface="+mn-lt"/>
                <a:ea typeface="+mn-ea"/>
                <a:cs typeface="+mn-cs"/>
                <a:sym typeface="Helvetica Neue"/>
              </a:defRPr>
            </a:lvl8pPr>
            <a:lvl9pPr marL="3886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kumimoji="0" sz="1800" b="0" i="0" u="none" strike="noStrike" kern="1200" cap="none" spc="0" normalizeH="0" baseline="0">
                <a:ln>
                  <a:noFill/>
                </a:ln>
                <a:solidFill>
                  <a:schemeClr val="tx1"/>
                </a:solidFill>
                <a:effectLst/>
                <a:uFillTx/>
                <a:latin typeface="+mn-lt"/>
                <a:ea typeface="+mn-ea"/>
                <a:cs typeface="+mn-cs"/>
                <a:sym typeface="Helvetica Neue"/>
              </a:defRPr>
            </a:lvl9pPr>
          </a:lstStyle>
          <a:p>
            <a:pPr marL="0" indent="0" algn="ctr">
              <a:buNone/>
            </a:pPr>
            <a:r>
              <a:rPr lang="en-US" sz="6000" b="1">
                <a:solidFill>
                  <a:schemeClr val="bg1"/>
                </a:solidFill>
                <a:latin typeface="Inter"/>
                <a:cs typeface="Poppins"/>
              </a:rPr>
              <a:t>Research Question</a:t>
            </a:r>
            <a:endParaRPr lang="en-US"/>
          </a:p>
        </p:txBody>
      </p:sp>
      <p:sp>
        <p:nvSpPr>
          <p:cNvPr id="10" name="Content Placeholder 2">
            <a:extLst>
              <a:ext uri="{FF2B5EF4-FFF2-40B4-BE49-F238E27FC236}">
                <a16:creationId xmlns:a16="http://schemas.microsoft.com/office/drawing/2014/main" id="{21B1C270-3350-E2D3-1A9F-ACE060764E82}"/>
              </a:ext>
            </a:extLst>
          </p:cNvPr>
          <p:cNvSpPr txBox="1">
            <a:spLocks/>
          </p:cNvSpPr>
          <p:nvPr/>
        </p:nvSpPr>
        <p:spPr>
          <a:xfrm>
            <a:off x="12900452" y="3407427"/>
            <a:ext cx="10294264" cy="1421055"/>
          </a:xfrm>
          <a:prstGeom prst="rect">
            <a:avLst/>
          </a:prstGeom>
          <a:solidFill>
            <a:schemeClr val="tx2"/>
          </a:solidFill>
          <a:ln w="38100">
            <a:solidFill>
              <a:schemeClr val="tx2"/>
            </a:solidFill>
          </a:ln>
        </p:spPr>
        <p:txBody>
          <a:bodyPr vert="horz" lIns="91440" tIns="45720" rIns="91440" bIns="4572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228600" marR="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kumimoji="0" sz="2800" b="0" i="0" u="none" strike="noStrike" kern="1200" cap="none" spc="0" normalizeH="0" baseline="0">
                <a:ln>
                  <a:noFill/>
                </a:ln>
                <a:solidFill>
                  <a:srgbClr val="667085"/>
                </a:solidFill>
                <a:effectLst/>
                <a:uFillTx/>
                <a:latin typeface="Inter" panose="02000503000000020004" pitchFamily="2" charset="0"/>
                <a:ea typeface="Inter" panose="02000503000000020004" pitchFamily="2" charset="0"/>
                <a:cs typeface="Poppins" pitchFamily="2" charset="77"/>
                <a:sym typeface="Helvetica Neue"/>
              </a:defRPr>
            </a:lvl1pPr>
            <a:lvl2pPr marL="685800" marR="0"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kumimoji="0" sz="2400" b="0" i="0" u="none" strike="noStrike" kern="1200" cap="none" spc="0" normalizeH="0" baseline="0">
                <a:ln>
                  <a:noFill/>
                </a:ln>
                <a:solidFill>
                  <a:srgbClr val="667085"/>
                </a:solidFill>
                <a:effectLst/>
                <a:uFillTx/>
                <a:latin typeface="Inter" panose="02000503000000020004" pitchFamily="2" charset="0"/>
                <a:ea typeface="Inter" panose="02000503000000020004" pitchFamily="2" charset="0"/>
                <a:cs typeface="Poppins" pitchFamily="2" charset="77"/>
                <a:sym typeface="Helvetica Neue"/>
              </a:defRPr>
            </a:lvl2pPr>
            <a:lvl3pPr marL="1143000" marR="0"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kumimoji="0" sz="2000" b="0" i="0" u="none" strike="noStrike" kern="1200" cap="none" spc="0" normalizeH="0" baseline="0">
                <a:ln>
                  <a:noFill/>
                </a:ln>
                <a:solidFill>
                  <a:srgbClr val="667085"/>
                </a:solidFill>
                <a:effectLst/>
                <a:uFillTx/>
                <a:latin typeface="Inter" panose="02000503000000020004" pitchFamily="2" charset="0"/>
                <a:ea typeface="Inter" panose="02000503000000020004" pitchFamily="2" charset="0"/>
                <a:cs typeface="Poppins" pitchFamily="2" charset="77"/>
                <a:sym typeface="Helvetica Neue"/>
              </a:defRPr>
            </a:lvl3pPr>
            <a:lvl4pPr marL="1600200" marR="0"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kumimoji="0" sz="1800" b="0" i="0" u="none" strike="noStrike" kern="1200" cap="none" spc="0" normalizeH="0" baseline="0">
                <a:ln>
                  <a:noFill/>
                </a:ln>
                <a:solidFill>
                  <a:srgbClr val="667085"/>
                </a:solidFill>
                <a:effectLst/>
                <a:uFillTx/>
                <a:latin typeface="Inter" panose="02000503000000020004" pitchFamily="2" charset="0"/>
                <a:ea typeface="Inter" panose="02000503000000020004" pitchFamily="2" charset="0"/>
                <a:cs typeface="Poppins" pitchFamily="2" charset="77"/>
                <a:sym typeface="Helvetica Neue"/>
              </a:defRPr>
            </a:lvl4pPr>
            <a:lvl5pPr marL="2057400" marR="0"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kumimoji="0" sz="1800" b="0" i="0" u="none" strike="noStrike" kern="1200" cap="none" spc="0" normalizeH="0" baseline="0">
                <a:ln>
                  <a:noFill/>
                </a:ln>
                <a:solidFill>
                  <a:srgbClr val="667085"/>
                </a:solidFill>
                <a:effectLst/>
                <a:uFillTx/>
                <a:latin typeface="Inter" panose="02000503000000020004" pitchFamily="2" charset="0"/>
                <a:ea typeface="Inter" panose="02000503000000020004" pitchFamily="2" charset="0"/>
                <a:cs typeface="Poppins" pitchFamily="2" charset="77"/>
                <a:sym typeface="Helvetica Neue"/>
              </a:defRPr>
            </a:lvl5pPr>
            <a:lvl6pPr marL="2286000" marR="0" indent="0" algn="l" defTabSz="914400" rtl="0" eaLnBrk="1" fontAlgn="auto" latinLnBrk="0" hangingPunct="1">
              <a:lnSpc>
                <a:spcPct val="150000"/>
              </a:lnSpc>
              <a:spcBef>
                <a:spcPts val="500"/>
              </a:spcBef>
              <a:spcAft>
                <a:spcPts val="0"/>
              </a:spcAft>
              <a:buClrTx/>
              <a:buSzTx/>
              <a:buFont typeface="Arial" panose="020B0604020202020204" pitchFamily="34" charset="0"/>
              <a:buNone/>
              <a:tabLst/>
              <a:defRPr kumimoji="0" sz="1800" b="0" i="0" u="none" strike="noStrike" kern="1200" cap="none" spc="0" normalizeH="0" baseline="0">
                <a:ln>
                  <a:noFill/>
                </a:ln>
                <a:solidFill>
                  <a:schemeClr val="tx1"/>
                </a:solidFill>
                <a:effectLst/>
                <a:uFillTx/>
                <a:latin typeface="Inter" panose="02000503000000020004" pitchFamily="2" charset="0"/>
                <a:ea typeface="Inter" panose="02000503000000020004" pitchFamily="2" charset="0"/>
                <a:cs typeface="+mn-cs"/>
                <a:sym typeface="Helvetica Neue"/>
              </a:defRPr>
            </a:lvl6pPr>
            <a:lvl7pPr marL="2971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kumimoji="0" sz="1800" b="0" i="0" u="none" strike="noStrike" kern="1200" cap="none" spc="0" normalizeH="0" baseline="0">
                <a:ln>
                  <a:noFill/>
                </a:ln>
                <a:solidFill>
                  <a:schemeClr val="tx1"/>
                </a:solidFill>
                <a:effectLst/>
                <a:uFillTx/>
                <a:latin typeface="+mn-lt"/>
                <a:ea typeface="+mn-ea"/>
                <a:cs typeface="+mn-cs"/>
                <a:sym typeface="Helvetica Neue"/>
              </a:defRPr>
            </a:lvl7pPr>
            <a:lvl8pPr marL="3429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kumimoji="0" sz="1800" b="0" i="0" u="none" strike="noStrike" kern="1200" cap="none" spc="0" normalizeH="0" baseline="0">
                <a:ln>
                  <a:noFill/>
                </a:ln>
                <a:solidFill>
                  <a:schemeClr val="tx1"/>
                </a:solidFill>
                <a:effectLst/>
                <a:uFillTx/>
                <a:latin typeface="+mn-lt"/>
                <a:ea typeface="+mn-ea"/>
                <a:cs typeface="+mn-cs"/>
                <a:sym typeface="Helvetica Neue"/>
              </a:defRPr>
            </a:lvl8pPr>
            <a:lvl9pPr marL="3886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kumimoji="0" sz="1800" b="0" i="0" u="none" strike="noStrike" kern="1200" cap="none" spc="0" normalizeH="0" baseline="0">
                <a:ln>
                  <a:noFill/>
                </a:ln>
                <a:solidFill>
                  <a:schemeClr val="tx1"/>
                </a:solidFill>
                <a:effectLst/>
                <a:uFillTx/>
                <a:latin typeface="+mn-lt"/>
                <a:ea typeface="+mn-ea"/>
                <a:cs typeface="+mn-cs"/>
                <a:sym typeface="Helvetica Neue"/>
              </a:defRPr>
            </a:lvl9pPr>
          </a:lstStyle>
          <a:p>
            <a:pPr marL="0" indent="0" algn="ctr">
              <a:buNone/>
            </a:pPr>
            <a:r>
              <a:rPr lang="en-US" sz="6000" b="1">
                <a:solidFill>
                  <a:schemeClr val="bg1"/>
                </a:solidFill>
                <a:latin typeface="Inter"/>
                <a:cs typeface="Poppins"/>
              </a:rPr>
              <a:t>Hypothesis</a:t>
            </a:r>
            <a:endParaRPr lang="en-US"/>
          </a:p>
        </p:txBody>
      </p:sp>
    </p:spTree>
    <p:extLst>
      <p:ext uri="{BB962C8B-B14F-4D97-AF65-F5344CB8AC3E}">
        <p14:creationId xmlns:p14="http://schemas.microsoft.com/office/powerpoint/2010/main" val="2012267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66D32DB-F369-D535-EE88-5E548F525BBC}"/>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1C49F24B-99B9-5128-88B2-C05593BAA607}"/>
              </a:ext>
            </a:extLst>
          </p:cNvPr>
          <p:cNvSpPr>
            <a:spLocks noGrp="1"/>
          </p:cNvSpPr>
          <p:nvPr>
            <p:ph type="sldNum" sz="quarter" idx="14"/>
          </p:nvPr>
        </p:nvSpPr>
        <p:spPr/>
        <p:txBody>
          <a:bodyPr/>
          <a:lstStyle/>
          <a:p>
            <a:fld id="{86CB4B4D-7CA3-9044-876B-883B54F8677D}" type="slidenum">
              <a:rPr lang="en-US" smtClean="0"/>
              <a:pPr/>
              <a:t>5</a:t>
            </a:fld>
            <a:endParaRPr lang="en-US"/>
          </a:p>
        </p:txBody>
      </p:sp>
      <p:sp>
        <p:nvSpPr>
          <p:cNvPr id="6" name="Title 5">
            <a:extLst>
              <a:ext uri="{FF2B5EF4-FFF2-40B4-BE49-F238E27FC236}">
                <a16:creationId xmlns:a16="http://schemas.microsoft.com/office/drawing/2014/main" id="{38E80BBC-9107-3B8B-53CD-25A8664693F3}"/>
              </a:ext>
            </a:extLst>
          </p:cNvPr>
          <p:cNvSpPr>
            <a:spLocks noGrp="1"/>
          </p:cNvSpPr>
          <p:nvPr>
            <p:ph type="title"/>
          </p:nvPr>
        </p:nvSpPr>
        <p:spPr/>
        <p:txBody>
          <a:bodyPr/>
          <a:lstStyle/>
          <a:p>
            <a:r>
              <a:rPr lang="en-US" dirty="0">
                <a:latin typeface="Inter"/>
                <a:cs typeface="Poppins SemiBold"/>
              </a:rPr>
              <a:t>Model </a:t>
            </a:r>
            <a:endParaRPr lang="en-US" dirty="0"/>
          </a:p>
        </p:txBody>
      </p:sp>
      <p:sp>
        <p:nvSpPr>
          <p:cNvPr id="2" name="Content Placeholder 2">
            <a:extLst>
              <a:ext uri="{FF2B5EF4-FFF2-40B4-BE49-F238E27FC236}">
                <a16:creationId xmlns:a16="http://schemas.microsoft.com/office/drawing/2014/main" id="{5763C3E8-8E8D-A72F-1BB4-18AB93A4E7E1}"/>
              </a:ext>
            </a:extLst>
          </p:cNvPr>
          <p:cNvSpPr txBox="1">
            <a:spLocks/>
          </p:cNvSpPr>
          <p:nvPr/>
        </p:nvSpPr>
        <p:spPr>
          <a:xfrm>
            <a:off x="2154137" y="2821832"/>
            <a:ext cx="6741459" cy="1219201"/>
          </a:xfrm>
          <a:prstGeom prst="rect">
            <a:avLst/>
          </a:prstGeom>
          <a:solidFill>
            <a:schemeClr val="tx2"/>
          </a:solidFill>
          <a:ln w="38100">
            <a:solidFill>
              <a:schemeClr val="tx2"/>
            </a:solidFill>
          </a:ln>
        </p:spPr>
        <p:txBody>
          <a:bodyPr vert="horz" lIns="91440" tIns="45720" rIns="91440" bIns="45720" rtlCol="0" anchor="ct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6000" b="1">
                <a:solidFill>
                  <a:schemeClr val="bg1"/>
                </a:solidFill>
                <a:effectLst/>
                <a:latin typeface="Inter" panose="02000503000000020004"/>
              </a:rPr>
              <a:t>Raw Data</a:t>
            </a:r>
            <a:endParaRPr lang="en-US" sz="6000" b="1">
              <a:solidFill>
                <a:schemeClr val="bg1"/>
              </a:solidFill>
              <a:latin typeface="Inter" panose="02000503000000020004"/>
            </a:endParaRPr>
          </a:p>
        </p:txBody>
      </p:sp>
      <p:sp>
        <p:nvSpPr>
          <p:cNvPr id="3" name="Content Placeholder 2">
            <a:extLst>
              <a:ext uri="{FF2B5EF4-FFF2-40B4-BE49-F238E27FC236}">
                <a16:creationId xmlns:a16="http://schemas.microsoft.com/office/drawing/2014/main" id="{5D391D2D-45AC-D264-AE88-23AC5DE6E0AA}"/>
              </a:ext>
            </a:extLst>
          </p:cNvPr>
          <p:cNvSpPr txBox="1">
            <a:spLocks/>
          </p:cNvSpPr>
          <p:nvPr/>
        </p:nvSpPr>
        <p:spPr>
          <a:xfrm>
            <a:off x="11139250" y="2821831"/>
            <a:ext cx="6741459" cy="1219201"/>
          </a:xfrm>
          <a:prstGeom prst="rect">
            <a:avLst/>
          </a:prstGeom>
          <a:solidFill>
            <a:schemeClr val="tx2"/>
          </a:solidFill>
          <a:ln w="38100">
            <a:solidFill>
              <a:schemeClr val="tx2"/>
            </a:solidFill>
          </a:ln>
        </p:spPr>
        <p:txBody>
          <a:bodyPr vert="horz" lIns="91440" tIns="45720" rIns="91440" bIns="45720" rtlCol="0" anchor="ct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6000" b="1">
                <a:solidFill>
                  <a:schemeClr val="bg1"/>
                </a:solidFill>
                <a:effectLst/>
                <a:latin typeface="Inter" panose="02000503000000020004"/>
              </a:rPr>
              <a:t>Feature Engineering</a:t>
            </a:r>
            <a:endParaRPr lang="en-US" sz="6000" b="1">
              <a:solidFill>
                <a:schemeClr val="bg1"/>
              </a:solidFill>
              <a:latin typeface="Inter" panose="02000503000000020004"/>
            </a:endParaRPr>
          </a:p>
        </p:txBody>
      </p:sp>
      <p:sp>
        <p:nvSpPr>
          <p:cNvPr id="8" name="Content Placeholder 2">
            <a:extLst>
              <a:ext uri="{FF2B5EF4-FFF2-40B4-BE49-F238E27FC236}">
                <a16:creationId xmlns:a16="http://schemas.microsoft.com/office/drawing/2014/main" id="{F293DFE1-13D5-B65C-FD50-8076228A97BF}"/>
              </a:ext>
            </a:extLst>
          </p:cNvPr>
          <p:cNvSpPr txBox="1">
            <a:spLocks/>
          </p:cNvSpPr>
          <p:nvPr/>
        </p:nvSpPr>
        <p:spPr>
          <a:xfrm>
            <a:off x="16781294" y="6248400"/>
            <a:ext cx="6741459" cy="1219201"/>
          </a:xfrm>
          <a:prstGeom prst="rect">
            <a:avLst/>
          </a:prstGeom>
          <a:solidFill>
            <a:schemeClr val="tx2"/>
          </a:solidFill>
          <a:ln w="38100">
            <a:solidFill>
              <a:schemeClr val="tx2"/>
            </a:solidFill>
          </a:ln>
        </p:spPr>
        <p:txBody>
          <a:bodyPr vert="horz" lIns="91440" tIns="45720" rIns="91440" bIns="45720" rtlCol="0" anchor="ct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6000" b="1">
                <a:solidFill>
                  <a:schemeClr val="bg1"/>
                </a:solidFill>
                <a:effectLst/>
                <a:latin typeface="Inter" panose="02000503000000020004"/>
              </a:rPr>
              <a:t>Model Training</a:t>
            </a:r>
            <a:endParaRPr lang="en-US" sz="6000" b="1">
              <a:solidFill>
                <a:schemeClr val="bg1"/>
              </a:solidFill>
              <a:latin typeface="Inter" panose="02000503000000020004"/>
            </a:endParaRPr>
          </a:p>
        </p:txBody>
      </p:sp>
      <p:sp>
        <p:nvSpPr>
          <p:cNvPr id="9" name="Content Placeholder 2">
            <a:extLst>
              <a:ext uri="{FF2B5EF4-FFF2-40B4-BE49-F238E27FC236}">
                <a16:creationId xmlns:a16="http://schemas.microsoft.com/office/drawing/2014/main" id="{BDB4DC11-8A21-3536-32DE-295C693C8B66}"/>
              </a:ext>
            </a:extLst>
          </p:cNvPr>
          <p:cNvSpPr txBox="1">
            <a:spLocks/>
          </p:cNvSpPr>
          <p:nvPr/>
        </p:nvSpPr>
        <p:spPr>
          <a:xfrm>
            <a:off x="11139251" y="10284567"/>
            <a:ext cx="6741459" cy="1219201"/>
          </a:xfrm>
          <a:prstGeom prst="rect">
            <a:avLst/>
          </a:prstGeom>
          <a:solidFill>
            <a:schemeClr val="tx2"/>
          </a:solidFill>
          <a:ln w="38100">
            <a:solidFill>
              <a:schemeClr val="tx2"/>
            </a:solidFill>
          </a:ln>
        </p:spPr>
        <p:txBody>
          <a:bodyPr vert="horz" lIns="91440" tIns="45720" rIns="91440" bIns="45720" rtlCol="0" anchor="ct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6000" b="1">
                <a:solidFill>
                  <a:schemeClr val="bg1"/>
                </a:solidFill>
                <a:effectLst/>
                <a:latin typeface="Inter" panose="02000503000000020004"/>
              </a:rPr>
              <a:t>Model Evaluation</a:t>
            </a:r>
            <a:endParaRPr lang="en-US" sz="6000" b="1">
              <a:solidFill>
                <a:schemeClr val="bg1"/>
              </a:solidFill>
              <a:latin typeface="Inter" panose="02000503000000020004"/>
            </a:endParaRPr>
          </a:p>
        </p:txBody>
      </p:sp>
      <p:sp>
        <p:nvSpPr>
          <p:cNvPr id="10" name="Content Placeholder 2">
            <a:extLst>
              <a:ext uri="{FF2B5EF4-FFF2-40B4-BE49-F238E27FC236}">
                <a16:creationId xmlns:a16="http://schemas.microsoft.com/office/drawing/2014/main" id="{8B24622E-C4CC-DF4E-C74B-718F89B7FE14}"/>
              </a:ext>
            </a:extLst>
          </p:cNvPr>
          <p:cNvSpPr txBox="1">
            <a:spLocks/>
          </p:cNvSpPr>
          <p:nvPr/>
        </p:nvSpPr>
        <p:spPr>
          <a:xfrm>
            <a:off x="2154137" y="10284566"/>
            <a:ext cx="6741459" cy="1219201"/>
          </a:xfrm>
          <a:prstGeom prst="rect">
            <a:avLst/>
          </a:prstGeom>
          <a:solidFill>
            <a:schemeClr val="tx2"/>
          </a:solidFill>
          <a:ln w="38100">
            <a:solidFill>
              <a:schemeClr val="tx2"/>
            </a:solidFill>
          </a:ln>
        </p:spPr>
        <p:txBody>
          <a:bodyPr vert="horz" lIns="91440" tIns="45720" rIns="91440" bIns="45720" rtlCol="0" anchor="ct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6000" b="1">
                <a:solidFill>
                  <a:schemeClr val="bg1"/>
                </a:solidFill>
                <a:effectLst/>
                <a:latin typeface="Inter" panose="02000503000000020004"/>
              </a:rPr>
              <a:t>Model Deployment</a:t>
            </a:r>
            <a:endParaRPr lang="en-US" sz="6000" b="1">
              <a:solidFill>
                <a:schemeClr val="bg1"/>
              </a:solidFill>
              <a:latin typeface="Inter" panose="02000503000000020004"/>
            </a:endParaRPr>
          </a:p>
        </p:txBody>
      </p:sp>
      <p:cxnSp>
        <p:nvCxnSpPr>
          <p:cNvPr id="12" name="Straight Arrow Connector 11">
            <a:extLst>
              <a:ext uri="{FF2B5EF4-FFF2-40B4-BE49-F238E27FC236}">
                <a16:creationId xmlns:a16="http://schemas.microsoft.com/office/drawing/2014/main" id="{712A948B-00FD-2AC0-D8BF-96AA8353AE5B}"/>
              </a:ext>
            </a:extLst>
          </p:cNvPr>
          <p:cNvCxnSpPr/>
          <p:nvPr/>
        </p:nvCxnSpPr>
        <p:spPr>
          <a:xfrm>
            <a:off x="9144000" y="3431431"/>
            <a:ext cx="1634247" cy="0"/>
          </a:xfrm>
          <a:prstGeom prst="straightConnector1">
            <a:avLst/>
          </a:prstGeom>
          <a:ln w="762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FD4BDF9-20F0-DB1D-DC6B-74F04D3A705D}"/>
              </a:ext>
            </a:extLst>
          </p:cNvPr>
          <p:cNvCxnSpPr>
            <a:cxnSpLocks/>
          </p:cNvCxnSpPr>
          <p:nvPr/>
        </p:nvCxnSpPr>
        <p:spPr>
          <a:xfrm>
            <a:off x="18051293" y="4420409"/>
            <a:ext cx="1634247" cy="1299456"/>
          </a:xfrm>
          <a:prstGeom prst="straightConnector1">
            <a:avLst/>
          </a:prstGeom>
          <a:ln w="762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47A9AC61-0890-677F-6A6C-77857EB99FDC}"/>
              </a:ext>
            </a:extLst>
          </p:cNvPr>
          <p:cNvCxnSpPr>
            <a:cxnSpLocks/>
          </p:cNvCxnSpPr>
          <p:nvPr/>
        </p:nvCxnSpPr>
        <p:spPr>
          <a:xfrm flipH="1">
            <a:off x="18385277" y="7996136"/>
            <a:ext cx="1766746" cy="2490281"/>
          </a:xfrm>
          <a:prstGeom prst="straightConnector1">
            <a:avLst/>
          </a:prstGeom>
          <a:ln w="762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0B82919-BB45-0B47-91A4-3BE93615D242}"/>
              </a:ext>
            </a:extLst>
          </p:cNvPr>
          <p:cNvCxnSpPr>
            <a:cxnSpLocks/>
          </p:cNvCxnSpPr>
          <p:nvPr/>
        </p:nvCxnSpPr>
        <p:spPr>
          <a:xfrm flipH="1">
            <a:off x="9144000" y="10894166"/>
            <a:ext cx="1634247" cy="0"/>
          </a:xfrm>
          <a:prstGeom prst="straightConnector1">
            <a:avLst/>
          </a:prstGeom>
          <a:ln w="76200">
            <a:solidFill>
              <a:schemeClr val="tx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2933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FBCB9-E721-DBE2-AF1F-B68EC33DA54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6D2F49-E38E-3343-2271-7DBC6ACA1239}"/>
              </a:ext>
            </a:extLst>
          </p:cNvPr>
          <p:cNvSpPr/>
          <p:nvPr/>
        </p:nvSpPr>
        <p:spPr>
          <a:xfrm>
            <a:off x="914399" y="2976664"/>
            <a:ext cx="21945601" cy="9163614"/>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030942-5E7E-8EA7-C29F-9A479130CBA0}"/>
              </a:ext>
            </a:extLst>
          </p:cNvPr>
          <p:cNvSpPr>
            <a:spLocks noGrp="1"/>
          </p:cNvSpPr>
          <p:nvPr>
            <p:ph type="title"/>
          </p:nvPr>
        </p:nvSpPr>
        <p:spPr/>
        <p:txBody>
          <a:bodyPr/>
          <a:lstStyle/>
          <a:p>
            <a:r>
              <a:rPr lang="en-US"/>
              <a:t>Data Description</a:t>
            </a:r>
          </a:p>
        </p:txBody>
      </p:sp>
      <p:sp>
        <p:nvSpPr>
          <p:cNvPr id="4" name="Text Placeholder 3">
            <a:extLst>
              <a:ext uri="{FF2B5EF4-FFF2-40B4-BE49-F238E27FC236}">
                <a16:creationId xmlns:a16="http://schemas.microsoft.com/office/drawing/2014/main" id="{C30CB585-E3C7-E600-C6DF-EC79BB5BE351}"/>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1C45EAB4-7236-608F-AFAC-AFB4BCE277BD}"/>
              </a:ext>
            </a:extLst>
          </p:cNvPr>
          <p:cNvSpPr>
            <a:spLocks noGrp="1"/>
          </p:cNvSpPr>
          <p:nvPr>
            <p:ph type="sldNum" sz="quarter" idx="2"/>
          </p:nvPr>
        </p:nvSpPr>
        <p:spPr/>
        <p:txBody>
          <a:bodyPr/>
          <a:lstStyle/>
          <a:p>
            <a:fld id="{86CB4B4D-7CA3-9044-876B-883B54F8677D}" type="slidenum">
              <a:rPr lang="en-US" smtClean="0"/>
              <a:pPr/>
              <a:t>6</a:t>
            </a:fld>
            <a:endParaRPr lang="en-US"/>
          </a:p>
        </p:txBody>
      </p:sp>
      <p:pic>
        <p:nvPicPr>
          <p:cNvPr id="6" name="Picture 5" descr="A table of numbers&#10;&#10;AI-generated content may be incorrect.">
            <a:extLst>
              <a:ext uri="{FF2B5EF4-FFF2-40B4-BE49-F238E27FC236}">
                <a16:creationId xmlns:a16="http://schemas.microsoft.com/office/drawing/2014/main" id="{0ECFA031-F318-F101-3034-0F9698F67D98}"/>
              </a:ext>
            </a:extLst>
          </p:cNvPr>
          <p:cNvPicPr>
            <a:picLocks noChangeAspect="1"/>
          </p:cNvPicPr>
          <p:nvPr/>
        </p:nvPicPr>
        <p:blipFill>
          <a:blip r:embed="rId3"/>
          <a:stretch>
            <a:fillRect/>
          </a:stretch>
        </p:blipFill>
        <p:spPr>
          <a:xfrm>
            <a:off x="1284761" y="3542682"/>
            <a:ext cx="21801777" cy="9163614"/>
          </a:xfrm>
          <a:prstGeom prst="rect">
            <a:avLst/>
          </a:prstGeom>
          <a:ln w="57150">
            <a:solidFill>
              <a:schemeClr val="tx2"/>
            </a:solidFill>
          </a:ln>
        </p:spPr>
      </p:pic>
    </p:spTree>
    <p:extLst>
      <p:ext uri="{BB962C8B-B14F-4D97-AF65-F5344CB8AC3E}">
        <p14:creationId xmlns:p14="http://schemas.microsoft.com/office/powerpoint/2010/main" val="655403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51574A4-6563-A4AC-2C1B-7C77725D8D7D}"/>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A9781284-6682-D275-ADA5-44050EE8CD31}"/>
              </a:ext>
            </a:extLst>
          </p:cNvPr>
          <p:cNvSpPr>
            <a:spLocks noGrp="1"/>
          </p:cNvSpPr>
          <p:nvPr>
            <p:ph type="sldNum" sz="quarter" idx="14"/>
          </p:nvPr>
        </p:nvSpPr>
        <p:spPr/>
        <p:txBody>
          <a:bodyPr/>
          <a:lstStyle/>
          <a:p>
            <a:fld id="{86CB4B4D-7CA3-9044-876B-883B54F8677D}" type="slidenum">
              <a:rPr lang="en-US" smtClean="0"/>
              <a:pPr/>
              <a:t>7</a:t>
            </a:fld>
            <a:endParaRPr lang="en-US"/>
          </a:p>
        </p:txBody>
      </p:sp>
      <p:sp>
        <p:nvSpPr>
          <p:cNvPr id="6" name="Title 5">
            <a:extLst>
              <a:ext uri="{FF2B5EF4-FFF2-40B4-BE49-F238E27FC236}">
                <a16:creationId xmlns:a16="http://schemas.microsoft.com/office/drawing/2014/main" id="{4C1B1FCD-DF23-99C1-F946-32DF10F57CCB}"/>
              </a:ext>
            </a:extLst>
          </p:cNvPr>
          <p:cNvSpPr>
            <a:spLocks noGrp="1"/>
          </p:cNvSpPr>
          <p:nvPr>
            <p:ph type="title"/>
          </p:nvPr>
        </p:nvSpPr>
        <p:spPr/>
        <p:txBody>
          <a:bodyPr/>
          <a:lstStyle/>
          <a:p>
            <a:r>
              <a:rPr lang="en-US"/>
              <a:t>Feature Engineering</a:t>
            </a:r>
          </a:p>
        </p:txBody>
      </p:sp>
      <p:pic>
        <p:nvPicPr>
          <p:cNvPr id="7" name="Content Placeholder 7">
            <a:extLst>
              <a:ext uri="{FF2B5EF4-FFF2-40B4-BE49-F238E27FC236}">
                <a16:creationId xmlns:a16="http://schemas.microsoft.com/office/drawing/2014/main" id="{B379F92C-B837-FEF4-C31F-CA68C3DA04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399" y="2998596"/>
            <a:ext cx="11112016" cy="6568873"/>
          </a:xfrm>
          <a:prstGeom prst="rect">
            <a:avLst/>
          </a:prstGeom>
          <a:ln w="76200">
            <a:solidFill>
              <a:schemeClr val="tx2"/>
            </a:solidFill>
          </a:ln>
        </p:spPr>
      </p:pic>
      <p:pic>
        <p:nvPicPr>
          <p:cNvPr id="9" name="Picture 8">
            <a:extLst>
              <a:ext uri="{FF2B5EF4-FFF2-40B4-BE49-F238E27FC236}">
                <a16:creationId xmlns:a16="http://schemas.microsoft.com/office/drawing/2014/main" id="{B40466FF-56EB-E136-9556-41E84EC3E3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08665" y="8195869"/>
            <a:ext cx="10972800" cy="1371600"/>
          </a:xfrm>
          <a:prstGeom prst="rect">
            <a:avLst/>
          </a:prstGeom>
          <a:ln w="76200">
            <a:solidFill>
              <a:schemeClr val="tx2"/>
            </a:solidFill>
          </a:ln>
        </p:spPr>
      </p:pic>
      <p:pic>
        <p:nvPicPr>
          <p:cNvPr id="14" name="Content Placeholder 13">
            <a:extLst>
              <a:ext uri="{FF2B5EF4-FFF2-40B4-BE49-F238E27FC236}">
                <a16:creationId xmlns:a16="http://schemas.microsoft.com/office/drawing/2014/main" id="{ECB928F2-4708-81F1-2FD9-5B2DBF2B62E0}"/>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1008687" y="10132294"/>
            <a:ext cx="22364850" cy="538630"/>
          </a:xfrm>
          <a:ln w="76200">
            <a:solidFill>
              <a:schemeClr val="tx2"/>
            </a:solidFill>
          </a:ln>
        </p:spPr>
      </p:pic>
      <p:pic>
        <p:nvPicPr>
          <p:cNvPr id="16" name="Picture 15">
            <a:extLst>
              <a:ext uri="{FF2B5EF4-FFF2-40B4-BE49-F238E27FC236}">
                <a16:creationId xmlns:a16="http://schemas.microsoft.com/office/drawing/2014/main" id="{4F5CE7BD-DCAC-D828-95B6-96B42D2EE5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355809" y="2971800"/>
            <a:ext cx="10970583" cy="4928192"/>
          </a:xfrm>
          <a:prstGeom prst="rect">
            <a:avLst/>
          </a:prstGeom>
          <a:ln w="76200">
            <a:solidFill>
              <a:schemeClr val="tx2"/>
            </a:solidFill>
          </a:ln>
        </p:spPr>
      </p:pic>
    </p:spTree>
    <p:extLst>
      <p:ext uri="{BB962C8B-B14F-4D97-AF65-F5344CB8AC3E}">
        <p14:creationId xmlns:p14="http://schemas.microsoft.com/office/powerpoint/2010/main" val="4016366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A60EB-A016-F1F9-2669-B97D609F37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B44CE-8D24-ABDE-8C16-D8A9F16D6D0F}"/>
              </a:ext>
            </a:extLst>
          </p:cNvPr>
          <p:cNvSpPr>
            <a:spLocks noGrp="1"/>
          </p:cNvSpPr>
          <p:nvPr>
            <p:ph type="title"/>
          </p:nvPr>
        </p:nvSpPr>
        <p:spPr>
          <a:xfrm>
            <a:off x="914399" y="1143000"/>
            <a:ext cx="21031201" cy="1371600"/>
          </a:xfrm>
        </p:spPr>
        <p:txBody>
          <a:bodyPr vert="horz" lIns="91440" tIns="45720" rIns="91440" bIns="45720" rtlCol="0" anchor="ctr">
            <a:normAutofit/>
          </a:bodyPr>
          <a:lstStyle/>
          <a:p>
            <a:r>
              <a:rPr lang="en-US" b="1" i="0" kern="1200">
                <a:latin typeface="Inter" panose="02000503000000020004" pitchFamily="2" charset="0"/>
                <a:ea typeface="Inter" panose="02000503000000020004" pitchFamily="2" charset="0"/>
                <a:cs typeface="Poppins SemiBold" pitchFamily="2" charset="77"/>
              </a:rPr>
              <a:t>Feature Engineering</a:t>
            </a:r>
          </a:p>
        </p:txBody>
      </p:sp>
      <p:pic>
        <p:nvPicPr>
          <p:cNvPr id="13" name="Picture 12" descr="A table of numbers with numbers on it&#10;&#10;AI-generated content may be incorrect.">
            <a:extLst>
              <a:ext uri="{FF2B5EF4-FFF2-40B4-BE49-F238E27FC236}">
                <a16:creationId xmlns:a16="http://schemas.microsoft.com/office/drawing/2014/main" id="{52BBEA9C-145F-63A7-EC7E-478D811F3678}"/>
              </a:ext>
            </a:extLst>
          </p:cNvPr>
          <p:cNvPicPr>
            <a:picLocks noChangeAspect="1"/>
          </p:cNvPicPr>
          <p:nvPr/>
        </p:nvPicPr>
        <p:blipFill>
          <a:blip r:embed="rId3"/>
          <a:stretch>
            <a:fillRect/>
          </a:stretch>
        </p:blipFill>
        <p:spPr>
          <a:xfrm>
            <a:off x="914400" y="3540333"/>
            <a:ext cx="22481241" cy="7418807"/>
          </a:xfrm>
          <a:prstGeom prst="rect">
            <a:avLst/>
          </a:prstGeom>
          <a:noFill/>
          <a:ln w="76200">
            <a:solidFill>
              <a:schemeClr val="tx2"/>
            </a:solidFill>
          </a:ln>
        </p:spPr>
      </p:pic>
      <p:sp>
        <p:nvSpPr>
          <p:cNvPr id="9" name="TextBox 8">
            <a:extLst>
              <a:ext uri="{FF2B5EF4-FFF2-40B4-BE49-F238E27FC236}">
                <a16:creationId xmlns:a16="http://schemas.microsoft.com/office/drawing/2014/main" id="{335CB672-2DB0-7BA0-DA80-24280D1C2167}"/>
              </a:ext>
            </a:extLst>
          </p:cNvPr>
          <p:cNvSpPr txBox="1"/>
          <p:nvPr/>
        </p:nvSpPr>
        <p:spPr>
          <a:xfrm>
            <a:off x="914399" y="685799"/>
            <a:ext cx="6741459" cy="45720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l" defTabSz="914400" hangingPunct="1">
              <a:lnSpc>
                <a:spcPct val="140000"/>
              </a:lnSpc>
              <a:spcBef>
                <a:spcPts val="1000"/>
              </a:spcBef>
            </a:pPr>
            <a:endParaRPr lang="en-US" sz="1700" b="1" i="0" kern="1200" spc="600">
              <a:solidFill>
                <a:schemeClr val="tx2">
                  <a:lumMod val="75000"/>
                  <a:lumOff val="25000"/>
                </a:schemeClr>
              </a:solidFill>
              <a:latin typeface="Inter" panose="02000503000000020004" pitchFamily="2" charset="0"/>
              <a:ea typeface="Inter" panose="02000503000000020004" pitchFamily="2" charset="0"/>
              <a:cs typeface="Poppins" pitchFamily="2" charset="77"/>
            </a:endParaRPr>
          </a:p>
        </p:txBody>
      </p:sp>
      <p:sp>
        <p:nvSpPr>
          <p:cNvPr id="5" name="Slide Number Placeholder 4">
            <a:extLst>
              <a:ext uri="{FF2B5EF4-FFF2-40B4-BE49-F238E27FC236}">
                <a16:creationId xmlns:a16="http://schemas.microsoft.com/office/drawing/2014/main" id="{07AAA233-087B-4129-F1F6-4FBEC48731A2}"/>
              </a:ext>
            </a:extLst>
          </p:cNvPr>
          <p:cNvSpPr>
            <a:spLocks noGrp="1"/>
          </p:cNvSpPr>
          <p:nvPr>
            <p:ph type="sldNum" sz="quarter" idx="2"/>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8</a:t>
            </a:fld>
            <a:endParaRPr lang="en-US"/>
          </a:p>
        </p:txBody>
      </p:sp>
      <p:sp>
        <p:nvSpPr>
          <p:cNvPr id="3" name="TextBox 2">
            <a:extLst>
              <a:ext uri="{FF2B5EF4-FFF2-40B4-BE49-F238E27FC236}">
                <a16:creationId xmlns:a16="http://schemas.microsoft.com/office/drawing/2014/main" id="{F9742B60-D89D-B4F7-B49C-1702525BE19A}"/>
              </a:ext>
            </a:extLst>
          </p:cNvPr>
          <p:cNvSpPr txBox="1"/>
          <p:nvPr/>
        </p:nvSpPr>
        <p:spPr>
          <a:xfrm>
            <a:off x="4155988" y="11568221"/>
            <a:ext cx="16072024" cy="553998"/>
          </a:xfrm>
          <a:prstGeom prst="rect">
            <a:avLst/>
          </a:prstGeom>
          <a:noFill/>
          <a:ln w="76200">
            <a:solidFill>
              <a:schemeClr val="tx2"/>
            </a:solidFill>
          </a:ln>
        </p:spPr>
        <p:txBody>
          <a:bodyPr wrap="square" rtlCol="0">
            <a:spAutoFit/>
          </a:bodyPr>
          <a:lstStyle/>
          <a:p>
            <a:r>
              <a:rPr lang="en-US" sz="3000">
                <a:solidFill>
                  <a:schemeClr val="tx1"/>
                </a:solidFill>
              </a:rPr>
              <a:t>For the target value “</a:t>
            </a:r>
            <a:r>
              <a:rPr lang="en-US" sz="3000" err="1">
                <a:solidFill>
                  <a:schemeClr val="tx1"/>
                </a:solidFill>
              </a:rPr>
              <a:t>Ftr</a:t>
            </a:r>
            <a:r>
              <a:rPr lang="en-US" sz="3000">
                <a:solidFill>
                  <a:schemeClr val="tx1"/>
                </a:solidFill>
              </a:rPr>
              <a:t> Vol” (Future Volatility) , 1 = High Volatility and 0 = Low Volatility</a:t>
            </a:r>
          </a:p>
        </p:txBody>
      </p:sp>
    </p:spTree>
    <p:extLst>
      <p:ext uri="{BB962C8B-B14F-4D97-AF65-F5344CB8AC3E}">
        <p14:creationId xmlns:p14="http://schemas.microsoft.com/office/powerpoint/2010/main" val="1497589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53A09-60D6-B029-3CDD-0FF14EEA6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A7662-F6D3-CFB3-3873-7C407F67BC62}"/>
              </a:ext>
            </a:extLst>
          </p:cNvPr>
          <p:cNvSpPr>
            <a:spLocks noGrp="1"/>
          </p:cNvSpPr>
          <p:nvPr>
            <p:ph type="title"/>
          </p:nvPr>
        </p:nvSpPr>
        <p:spPr/>
        <p:txBody>
          <a:bodyPr>
            <a:normAutofit/>
          </a:bodyPr>
          <a:lstStyle/>
          <a:p>
            <a:r>
              <a:rPr lang="en-US"/>
              <a:t>Data Visualization</a:t>
            </a:r>
          </a:p>
        </p:txBody>
      </p:sp>
      <p:sp>
        <p:nvSpPr>
          <p:cNvPr id="4" name="Text Placeholder 3">
            <a:extLst>
              <a:ext uri="{FF2B5EF4-FFF2-40B4-BE49-F238E27FC236}">
                <a16:creationId xmlns:a16="http://schemas.microsoft.com/office/drawing/2014/main" id="{330DFE27-E76C-BC49-B4C8-91582B3A18C5}"/>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D079BDB1-06B1-00F3-474F-E8F05B32A342}"/>
              </a:ext>
            </a:extLst>
          </p:cNvPr>
          <p:cNvSpPr>
            <a:spLocks noGrp="1"/>
          </p:cNvSpPr>
          <p:nvPr>
            <p:ph type="sldNum" sz="quarter" idx="2"/>
          </p:nvPr>
        </p:nvSpPr>
        <p:spPr/>
        <p:txBody>
          <a:bodyPr/>
          <a:lstStyle/>
          <a:p>
            <a:fld id="{86CB4B4D-7CA3-9044-876B-883B54F8677D}" type="slidenum">
              <a:rPr lang="en-US" smtClean="0"/>
              <a:pPr/>
              <a:t>9</a:t>
            </a:fld>
            <a:endParaRPr lang="en-US"/>
          </a:p>
        </p:txBody>
      </p:sp>
      <p:pic>
        <p:nvPicPr>
          <p:cNvPr id="6" name="Picture 5">
            <a:extLst>
              <a:ext uri="{FF2B5EF4-FFF2-40B4-BE49-F238E27FC236}">
                <a16:creationId xmlns:a16="http://schemas.microsoft.com/office/drawing/2014/main" id="{B256120A-587D-7291-78B3-B9FBC72BC9D5}"/>
              </a:ext>
            </a:extLst>
          </p:cNvPr>
          <p:cNvPicPr>
            <a:picLocks noChangeAspect="1"/>
          </p:cNvPicPr>
          <p:nvPr/>
        </p:nvPicPr>
        <p:blipFill>
          <a:blip r:embed="rId2"/>
          <a:stretch>
            <a:fillRect/>
          </a:stretch>
        </p:blipFill>
        <p:spPr>
          <a:xfrm>
            <a:off x="4681870" y="2514600"/>
            <a:ext cx="15020260" cy="9874706"/>
          </a:xfrm>
          <a:prstGeom prst="rect">
            <a:avLst/>
          </a:prstGeom>
          <a:ln w="76200">
            <a:solidFill>
              <a:schemeClr val="tx2"/>
            </a:solidFill>
          </a:ln>
        </p:spPr>
      </p:pic>
    </p:spTree>
    <p:extLst>
      <p:ext uri="{BB962C8B-B14F-4D97-AF65-F5344CB8AC3E}">
        <p14:creationId xmlns:p14="http://schemas.microsoft.com/office/powerpoint/2010/main" val="1702885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D6547-354C-9F49-AE51-33B622ECC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8DAE2-B0CA-0013-62EB-63A043B15748}"/>
              </a:ext>
            </a:extLst>
          </p:cNvPr>
          <p:cNvSpPr>
            <a:spLocks noGrp="1"/>
          </p:cNvSpPr>
          <p:nvPr>
            <p:ph type="title"/>
          </p:nvPr>
        </p:nvSpPr>
        <p:spPr/>
        <p:txBody>
          <a:bodyPr/>
          <a:lstStyle/>
          <a:p>
            <a:r>
              <a:rPr lang="en-US">
                <a:latin typeface="Inter"/>
                <a:cs typeface="Poppins SemiBold"/>
              </a:rPr>
              <a:t>Data Visualization</a:t>
            </a:r>
          </a:p>
        </p:txBody>
      </p:sp>
      <p:pic>
        <p:nvPicPr>
          <p:cNvPr id="6" name="Content Placeholder 5">
            <a:extLst>
              <a:ext uri="{FF2B5EF4-FFF2-40B4-BE49-F238E27FC236}">
                <a16:creationId xmlns:a16="http://schemas.microsoft.com/office/drawing/2014/main" id="{8F7E3683-9E39-A890-9590-D23171AE3F09}"/>
              </a:ext>
            </a:extLst>
          </p:cNvPr>
          <p:cNvPicPr>
            <a:picLocks noGrp="1" noChangeAspect="1"/>
          </p:cNvPicPr>
          <p:nvPr>
            <p:ph idx="1"/>
          </p:nvPr>
        </p:nvPicPr>
        <p:blipFill>
          <a:blip r:embed="rId2"/>
          <a:stretch>
            <a:fillRect/>
          </a:stretch>
        </p:blipFill>
        <p:spPr>
          <a:xfrm>
            <a:off x="10134600" y="2514766"/>
            <a:ext cx="11811000" cy="9451258"/>
          </a:xfrm>
          <a:ln w="76200">
            <a:solidFill>
              <a:schemeClr val="tx2"/>
            </a:solidFill>
          </a:ln>
        </p:spPr>
      </p:pic>
      <p:sp>
        <p:nvSpPr>
          <p:cNvPr id="4" name="Text Placeholder 3">
            <a:extLst>
              <a:ext uri="{FF2B5EF4-FFF2-40B4-BE49-F238E27FC236}">
                <a16:creationId xmlns:a16="http://schemas.microsoft.com/office/drawing/2014/main" id="{87B4ECE1-F656-6D0C-22A0-580B1142976C}"/>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D5BFB961-B62E-FF13-F252-2B14CFC3C56D}"/>
              </a:ext>
            </a:extLst>
          </p:cNvPr>
          <p:cNvSpPr>
            <a:spLocks noGrp="1"/>
          </p:cNvSpPr>
          <p:nvPr>
            <p:ph type="sldNum" sz="quarter" idx="2"/>
          </p:nvPr>
        </p:nvSpPr>
        <p:spPr/>
        <p:txBody>
          <a:bodyPr/>
          <a:lstStyle/>
          <a:p>
            <a:fld id="{86CB4B4D-7CA3-9044-876B-883B54F8677D}" type="slidenum">
              <a:rPr lang="en-US" smtClean="0"/>
              <a:pPr/>
              <a:t>10</a:t>
            </a:fld>
            <a:endParaRPr lang="en-US"/>
          </a:p>
        </p:txBody>
      </p:sp>
      <p:sp>
        <p:nvSpPr>
          <p:cNvPr id="7" name="Content Placeholder 2">
            <a:extLst>
              <a:ext uri="{FF2B5EF4-FFF2-40B4-BE49-F238E27FC236}">
                <a16:creationId xmlns:a16="http://schemas.microsoft.com/office/drawing/2014/main" id="{F3EBCAB3-335E-D56E-257C-6808D11703E6}"/>
              </a:ext>
            </a:extLst>
          </p:cNvPr>
          <p:cNvSpPr txBox="1">
            <a:spLocks/>
          </p:cNvSpPr>
          <p:nvPr/>
        </p:nvSpPr>
        <p:spPr>
          <a:xfrm>
            <a:off x="914399" y="4141957"/>
            <a:ext cx="8020996" cy="6577924"/>
          </a:xfrm>
          <a:prstGeom prst="rect">
            <a:avLst/>
          </a:prstGeom>
          <a:ln w="57150">
            <a:solidFill>
              <a:schemeClr val="tx2"/>
            </a:solidFill>
          </a:ln>
        </p:spPr>
        <p:txBody>
          <a:bodyPr vert="horz" lIns="91440" tIns="45720" rIns="91440" bIns="45720" rtlCol="0" anchor="ct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a:solidFill>
                  <a:schemeClr val="tx1"/>
                </a:solidFill>
                <a:latin typeface="Inter"/>
                <a:cs typeface="Poppins"/>
              </a:rPr>
              <a:t> 1 = Strong Positive Relationship</a:t>
            </a:r>
          </a:p>
          <a:p>
            <a:pPr marL="0" indent="0">
              <a:buNone/>
            </a:pPr>
            <a:r>
              <a:rPr lang="en-US" sz="4400">
                <a:solidFill>
                  <a:schemeClr val="tx1"/>
                </a:solidFill>
                <a:latin typeface="Inter"/>
                <a:cs typeface="Poppins"/>
              </a:rPr>
              <a:t> 0 = No Relationship</a:t>
            </a:r>
          </a:p>
          <a:p>
            <a:pPr marL="0" indent="0">
              <a:buNone/>
            </a:pPr>
            <a:r>
              <a:rPr lang="en-US" sz="4400">
                <a:solidFill>
                  <a:schemeClr val="tx1"/>
                </a:solidFill>
                <a:latin typeface="Inter"/>
                <a:cs typeface="Poppins"/>
              </a:rPr>
              <a:t>-1 = Strong Negative Relationship </a:t>
            </a:r>
          </a:p>
        </p:txBody>
      </p:sp>
    </p:spTree>
    <p:extLst>
      <p:ext uri="{BB962C8B-B14F-4D97-AF65-F5344CB8AC3E}">
        <p14:creationId xmlns:p14="http://schemas.microsoft.com/office/powerpoint/2010/main" val="801591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1271990-DB3F-7EBE-75BD-EFFC95D55550}"/>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CF797521-5F03-2C53-FDED-DB23ECF57182}"/>
              </a:ext>
            </a:extLst>
          </p:cNvPr>
          <p:cNvSpPr>
            <a:spLocks noGrp="1"/>
          </p:cNvSpPr>
          <p:nvPr>
            <p:ph type="sldNum" sz="quarter" idx="14"/>
          </p:nvPr>
        </p:nvSpPr>
        <p:spPr/>
        <p:txBody>
          <a:bodyPr/>
          <a:lstStyle/>
          <a:p>
            <a:fld id="{86CB4B4D-7CA3-9044-876B-883B54F8677D}" type="slidenum">
              <a:rPr lang="en-US" smtClean="0"/>
              <a:pPr/>
              <a:t>11</a:t>
            </a:fld>
            <a:endParaRPr lang="en-US"/>
          </a:p>
        </p:txBody>
      </p:sp>
      <p:sp>
        <p:nvSpPr>
          <p:cNvPr id="6" name="Title 5">
            <a:extLst>
              <a:ext uri="{FF2B5EF4-FFF2-40B4-BE49-F238E27FC236}">
                <a16:creationId xmlns:a16="http://schemas.microsoft.com/office/drawing/2014/main" id="{8FC90B3A-95AC-D5AA-BED5-2A09F2199284}"/>
              </a:ext>
            </a:extLst>
          </p:cNvPr>
          <p:cNvSpPr>
            <a:spLocks noGrp="1"/>
          </p:cNvSpPr>
          <p:nvPr>
            <p:ph type="title"/>
          </p:nvPr>
        </p:nvSpPr>
        <p:spPr/>
        <p:txBody>
          <a:bodyPr/>
          <a:lstStyle/>
          <a:p>
            <a:r>
              <a:rPr lang="en-US"/>
              <a:t>Model Training</a:t>
            </a:r>
          </a:p>
        </p:txBody>
      </p:sp>
      <p:pic>
        <p:nvPicPr>
          <p:cNvPr id="14" name="Content Placeholder 13">
            <a:extLst>
              <a:ext uri="{FF2B5EF4-FFF2-40B4-BE49-F238E27FC236}">
                <a16:creationId xmlns:a16="http://schemas.microsoft.com/office/drawing/2014/main" id="{A8F6F057-A06F-8262-CFF0-ABE6862ABAD0}"/>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3424355" y="2971800"/>
            <a:ext cx="17535291" cy="5631772"/>
          </a:xfrm>
          <a:ln w="76200">
            <a:solidFill>
              <a:schemeClr val="tx2"/>
            </a:solidFill>
          </a:ln>
        </p:spPr>
      </p:pic>
      <p:sp>
        <p:nvSpPr>
          <p:cNvPr id="17" name="TextBox 16">
            <a:extLst>
              <a:ext uri="{FF2B5EF4-FFF2-40B4-BE49-F238E27FC236}">
                <a16:creationId xmlns:a16="http://schemas.microsoft.com/office/drawing/2014/main" id="{1463EA65-F253-BB45-28A4-CF384F44BB1B}"/>
              </a:ext>
            </a:extLst>
          </p:cNvPr>
          <p:cNvSpPr txBox="1"/>
          <p:nvPr/>
        </p:nvSpPr>
        <p:spPr>
          <a:xfrm>
            <a:off x="835099" y="4603537"/>
            <a:ext cx="22713803" cy="4508927"/>
          </a:xfrm>
          <a:prstGeom prst="rect">
            <a:avLst/>
          </a:prstGeom>
          <a:noFill/>
        </p:spPr>
        <p:txBody>
          <a:bodyPr wrap="square">
            <a:spAutoFit/>
          </a:bodyPr>
          <a:lstStyle/>
          <a:p>
            <a:r>
              <a:rPr lang="en-US" sz="28700" b="1">
                <a:solidFill>
                  <a:srgbClr val="FF0000"/>
                </a:solidFill>
              </a:rPr>
              <a:t>OVERFITTING</a:t>
            </a:r>
            <a:endParaRPr lang="en-US" sz="19900" b="1">
              <a:solidFill>
                <a:srgbClr val="FF0000"/>
              </a:solidFill>
            </a:endParaRPr>
          </a:p>
        </p:txBody>
      </p:sp>
      <p:pic>
        <p:nvPicPr>
          <p:cNvPr id="3" name="Picture 2" descr="A screenshot of a graph&#10;&#10;AI-generated content may be incorrect.">
            <a:extLst>
              <a:ext uri="{FF2B5EF4-FFF2-40B4-BE49-F238E27FC236}">
                <a16:creationId xmlns:a16="http://schemas.microsoft.com/office/drawing/2014/main" id="{AAC097D0-58F8-439C-41E3-8055EB8A59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6391" y="8988086"/>
            <a:ext cx="9911219" cy="3512228"/>
          </a:xfrm>
          <a:prstGeom prst="rect">
            <a:avLst/>
          </a:prstGeom>
        </p:spPr>
      </p:pic>
    </p:spTree>
    <p:extLst>
      <p:ext uri="{BB962C8B-B14F-4D97-AF65-F5344CB8AC3E}">
        <p14:creationId xmlns:p14="http://schemas.microsoft.com/office/powerpoint/2010/main" val="1522439148"/>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14:presetBounceEnd="50000">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14:bounceEnd="50000">
                                          <p:cBhvr additive="base">
                                            <p:cTn id="7" dur="400" fill="hold"/>
                                            <p:tgtEl>
                                              <p:spTgt spid="17"/>
                                            </p:tgtEl>
                                            <p:attrNameLst>
                                              <p:attrName>ppt_x</p:attrName>
                                            </p:attrNameLst>
                                          </p:cBhvr>
                                          <p:tavLst>
                                            <p:tav tm="0">
                                              <p:val>
                                                <p:strVal val="#ppt_x"/>
                                              </p:val>
                                            </p:tav>
                                            <p:tav tm="100000">
                                              <p:val>
                                                <p:strVal val="#ppt_x"/>
                                              </p:val>
                                            </p:tav>
                                          </p:tavLst>
                                        </p:anim>
                                        <p:anim calcmode="lin" valueType="num" p14:bounceEnd="50000">
                                          <p:cBhvr additive="base">
                                            <p:cTn id="8" dur="400" fill="hold"/>
                                            <p:tgtEl>
                                              <p:spTgt spid="17"/>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hamm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400" fill="hold"/>
                                            <p:tgtEl>
                                              <p:spTgt spid="17"/>
                                            </p:tgtEl>
                                            <p:attrNameLst>
                                              <p:attrName>ppt_x</p:attrName>
                                            </p:attrNameLst>
                                          </p:cBhvr>
                                          <p:tavLst>
                                            <p:tav tm="0">
                                              <p:val>
                                                <p:strVal val="#ppt_x"/>
                                              </p:val>
                                            </p:tav>
                                            <p:tav tm="100000">
                                              <p:val>
                                                <p:strVal val="#ppt_x"/>
                                              </p:val>
                                            </p:tav>
                                          </p:tavLst>
                                        </p:anim>
                                        <p:anim calcmode="lin" valueType="num">
                                          <p:cBhvr additive="base">
                                            <p:cTn id="8" dur="400" fill="hold"/>
                                            <p:tgtEl>
                                              <p:spTgt spid="17"/>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hamm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2B47FC5-143A-4F48-7C85-94F68DF64E47}"/>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A3EF8838-8840-0376-CB2F-4EF731D42249}"/>
              </a:ext>
            </a:extLst>
          </p:cNvPr>
          <p:cNvSpPr>
            <a:spLocks noGrp="1"/>
          </p:cNvSpPr>
          <p:nvPr>
            <p:ph type="sldNum" sz="quarter" idx="14"/>
          </p:nvPr>
        </p:nvSpPr>
        <p:spPr/>
        <p:txBody>
          <a:bodyPr/>
          <a:lstStyle/>
          <a:p>
            <a:fld id="{86CB4B4D-7CA3-9044-876B-883B54F8677D}" type="slidenum">
              <a:rPr lang="en-US" smtClean="0"/>
              <a:pPr/>
              <a:t>12</a:t>
            </a:fld>
            <a:endParaRPr lang="en-US"/>
          </a:p>
        </p:txBody>
      </p:sp>
      <p:sp>
        <p:nvSpPr>
          <p:cNvPr id="6" name="Title 5">
            <a:extLst>
              <a:ext uri="{FF2B5EF4-FFF2-40B4-BE49-F238E27FC236}">
                <a16:creationId xmlns:a16="http://schemas.microsoft.com/office/drawing/2014/main" id="{9FF0B843-0CD7-9736-FDB3-FDB73E6892CF}"/>
              </a:ext>
            </a:extLst>
          </p:cNvPr>
          <p:cNvSpPr>
            <a:spLocks noGrp="1"/>
          </p:cNvSpPr>
          <p:nvPr>
            <p:ph type="title"/>
          </p:nvPr>
        </p:nvSpPr>
        <p:spPr/>
        <p:txBody>
          <a:bodyPr/>
          <a:lstStyle/>
          <a:p>
            <a:r>
              <a:rPr lang="en-US"/>
              <a:t>Combatting Overfitting</a:t>
            </a:r>
          </a:p>
        </p:txBody>
      </p:sp>
      <p:pic>
        <p:nvPicPr>
          <p:cNvPr id="10" name="Picture 9">
            <a:extLst>
              <a:ext uri="{FF2B5EF4-FFF2-40B4-BE49-F238E27FC236}">
                <a16:creationId xmlns:a16="http://schemas.microsoft.com/office/drawing/2014/main" id="{1038C11D-6041-0E1D-DC84-A8F44DE95D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4742" y="3123996"/>
            <a:ext cx="22294517" cy="8082720"/>
          </a:xfrm>
          <a:prstGeom prst="rect">
            <a:avLst/>
          </a:prstGeom>
        </p:spPr>
      </p:pic>
    </p:spTree>
    <p:extLst>
      <p:ext uri="{BB962C8B-B14F-4D97-AF65-F5344CB8AC3E}">
        <p14:creationId xmlns:p14="http://schemas.microsoft.com/office/powerpoint/2010/main" val="3913932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7B13381-A4B2-CC7A-8655-C582917599A5}"/>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D0DDD801-57A7-F4D5-3C47-9EADBA105E55}"/>
              </a:ext>
            </a:extLst>
          </p:cNvPr>
          <p:cNvSpPr>
            <a:spLocks noGrp="1"/>
          </p:cNvSpPr>
          <p:nvPr>
            <p:ph type="sldNum" sz="quarter" idx="14"/>
          </p:nvPr>
        </p:nvSpPr>
        <p:spPr/>
        <p:txBody>
          <a:bodyPr/>
          <a:lstStyle/>
          <a:p>
            <a:fld id="{86CB4B4D-7CA3-9044-876B-883B54F8677D}" type="slidenum">
              <a:rPr lang="en-US" smtClean="0"/>
              <a:pPr/>
              <a:t>13</a:t>
            </a:fld>
            <a:endParaRPr lang="en-US"/>
          </a:p>
        </p:txBody>
      </p:sp>
      <p:sp>
        <p:nvSpPr>
          <p:cNvPr id="6" name="Title 5">
            <a:extLst>
              <a:ext uri="{FF2B5EF4-FFF2-40B4-BE49-F238E27FC236}">
                <a16:creationId xmlns:a16="http://schemas.microsoft.com/office/drawing/2014/main" id="{32697965-988D-CED3-2D18-5BD9E3F1F8D0}"/>
              </a:ext>
            </a:extLst>
          </p:cNvPr>
          <p:cNvSpPr>
            <a:spLocks noGrp="1"/>
          </p:cNvSpPr>
          <p:nvPr>
            <p:ph type="title"/>
          </p:nvPr>
        </p:nvSpPr>
        <p:spPr/>
        <p:txBody>
          <a:bodyPr/>
          <a:lstStyle/>
          <a:p>
            <a:r>
              <a:rPr lang="en-US"/>
              <a:t>Combatting Overfitting</a:t>
            </a:r>
          </a:p>
        </p:txBody>
      </p:sp>
      <p:pic>
        <p:nvPicPr>
          <p:cNvPr id="14" name="Picture 13">
            <a:extLst>
              <a:ext uri="{FF2B5EF4-FFF2-40B4-BE49-F238E27FC236}">
                <a16:creationId xmlns:a16="http://schemas.microsoft.com/office/drawing/2014/main" id="{E5D9AC90-D3DD-6CB1-7FDE-DCBEF81971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763926"/>
            <a:ext cx="10100192" cy="2849495"/>
          </a:xfrm>
          <a:prstGeom prst="rect">
            <a:avLst/>
          </a:prstGeom>
        </p:spPr>
      </p:pic>
      <p:pic>
        <p:nvPicPr>
          <p:cNvPr id="16" name="Picture 15">
            <a:extLst>
              <a:ext uri="{FF2B5EF4-FFF2-40B4-BE49-F238E27FC236}">
                <a16:creationId xmlns:a16="http://schemas.microsoft.com/office/drawing/2014/main" id="{1370DCCD-619E-F275-DF95-7F67A945BC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399" y="7409012"/>
            <a:ext cx="10100192" cy="4819930"/>
          </a:xfrm>
          <a:prstGeom prst="rect">
            <a:avLst/>
          </a:prstGeom>
        </p:spPr>
      </p:pic>
      <p:sp>
        <p:nvSpPr>
          <p:cNvPr id="2" name="TextBox 1">
            <a:extLst>
              <a:ext uri="{FF2B5EF4-FFF2-40B4-BE49-F238E27FC236}">
                <a16:creationId xmlns:a16="http://schemas.microsoft.com/office/drawing/2014/main" id="{2BA5CC21-237D-9766-95B4-42C981DCE00C}"/>
              </a:ext>
            </a:extLst>
          </p:cNvPr>
          <p:cNvSpPr txBox="1"/>
          <p:nvPr/>
        </p:nvSpPr>
        <p:spPr>
          <a:xfrm>
            <a:off x="12472625" y="3763926"/>
            <a:ext cx="10878299" cy="584775"/>
          </a:xfrm>
          <a:prstGeom prst="rect">
            <a:avLst/>
          </a:prstGeom>
          <a:noFill/>
        </p:spPr>
        <p:txBody>
          <a:bodyPr wrap="none" rtlCol="0">
            <a:spAutoFit/>
          </a:bodyPr>
          <a:lstStyle/>
          <a:p>
            <a:pPr algn="l"/>
            <a:r>
              <a:rPr lang="en-US" sz="3200"/>
              <a:t>If train accuracy ≈ test accuracy, the model </a:t>
            </a:r>
            <a:r>
              <a:rPr lang="en-US" sz="3200" u="sng"/>
              <a:t>isn’t</a:t>
            </a:r>
            <a:r>
              <a:rPr lang="en-US" sz="3200"/>
              <a:t> overfitting.   </a:t>
            </a:r>
          </a:p>
        </p:txBody>
      </p:sp>
      <p:sp>
        <p:nvSpPr>
          <p:cNvPr id="3" name="TextBox 2">
            <a:extLst>
              <a:ext uri="{FF2B5EF4-FFF2-40B4-BE49-F238E27FC236}">
                <a16:creationId xmlns:a16="http://schemas.microsoft.com/office/drawing/2014/main" id="{EED11B6A-E924-227C-AAFF-9DFD57719F31}"/>
              </a:ext>
            </a:extLst>
          </p:cNvPr>
          <p:cNvSpPr txBox="1"/>
          <p:nvPr/>
        </p:nvSpPr>
        <p:spPr>
          <a:xfrm>
            <a:off x="12443770" y="7409012"/>
            <a:ext cx="10936007" cy="584775"/>
          </a:xfrm>
          <a:prstGeom prst="rect">
            <a:avLst/>
          </a:prstGeom>
          <a:noFill/>
        </p:spPr>
        <p:txBody>
          <a:bodyPr wrap="none" rtlCol="0">
            <a:spAutoFit/>
          </a:bodyPr>
          <a:lstStyle/>
          <a:p>
            <a:pPr algn="l"/>
            <a:r>
              <a:rPr lang="en-US" sz="3200"/>
              <a:t>If the OOB score ≈ test accuracy, the model </a:t>
            </a:r>
            <a:r>
              <a:rPr lang="en-US" sz="3200" u="sng"/>
              <a:t>isn’t</a:t>
            </a:r>
            <a:r>
              <a:rPr lang="en-US" sz="3200"/>
              <a:t> overfitting.   </a:t>
            </a:r>
          </a:p>
        </p:txBody>
      </p:sp>
      <p:sp>
        <p:nvSpPr>
          <p:cNvPr id="9" name="TextBox 8">
            <a:extLst>
              <a:ext uri="{FF2B5EF4-FFF2-40B4-BE49-F238E27FC236}">
                <a16:creationId xmlns:a16="http://schemas.microsoft.com/office/drawing/2014/main" id="{4FF7A74B-A4BC-B8D0-DC79-20886A8094FA}"/>
              </a:ext>
            </a:extLst>
          </p:cNvPr>
          <p:cNvSpPr txBox="1"/>
          <p:nvPr/>
        </p:nvSpPr>
        <p:spPr>
          <a:xfrm>
            <a:off x="835099" y="2395240"/>
            <a:ext cx="22713803" cy="8925520"/>
          </a:xfrm>
          <a:prstGeom prst="rect">
            <a:avLst/>
          </a:prstGeom>
          <a:noFill/>
        </p:spPr>
        <p:txBody>
          <a:bodyPr wrap="square">
            <a:spAutoFit/>
          </a:bodyPr>
          <a:lstStyle/>
          <a:p>
            <a:r>
              <a:rPr lang="en-US" sz="28700" b="1">
                <a:solidFill>
                  <a:srgbClr val="FF0000"/>
                </a:solidFill>
              </a:rPr>
              <a:t>NOT</a:t>
            </a:r>
          </a:p>
          <a:p>
            <a:r>
              <a:rPr lang="en-US" sz="28700" b="1">
                <a:solidFill>
                  <a:srgbClr val="FF0000"/>
                </a:solidFill>
              </a:rPr>
              <a:t>OVERFITTING</a:t>
            </a:r>
            <a:endParaRPr lang="en-US" sz="19900" b="1">
              <a:solidFill>
                <a:srgbClr val="FF0000"/>
              </a:solidFill>
            </a:endParaRPr>
          </a:p>
        </p:txBody>
      </p:sp>
      <p:pic>
        <p:nvPicPr>
          <p:cNvPr id="11" name="Picture 10" descr="A grey background with white text&#10;&#10;AI-generated content may be incorrect.">
            <a:extLst>
              <a:ext uri="{FF2B5EF4-FFF2-40B4-BE49-F238E27FC236}">
                <a16:creationId xmlns:a16="http://schemas.microsoft.com/office/drawing/2014/main" id="{DAB98FEA-0621-0B52-BEAD-2B634E0FCE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66999" y="5016367"/>
            <a:ext cx="6689547" cy="1597054"/>
          </a:xfrm>
          <a:prstGeom prst="rect">
            <a:avLst/>
          </a:prstGeom>
        </p:spPr>
      </p:pic>
      <p:pic>
        <p:nvPicPr>
          <p:cNvPr id="13" name="Picture 12" descr="A number on a grey background&#10;&#10;AI-generated content may be incorrect.">
            <a:extLst>
              <a:ext uri="{FF2B5EF4-FFF2-40B4-BE49-F238E27FC236}">
                <a16:creationId xmlns:a16="http://schemas.microsoft.com/office/drawing/2014/main" id="{1B6C909A-15CB-9363-FBD8-65686CB3DEF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416702" y="11076360"/>
            <a:ext cx="8990143" cy="1152582"/>
          </a:xfrm>
          <a:prstGeom prst="rect">
            <a:avLst/>
          </a:prstGeom>
        </p:spPr>
      </p:pic>
    </p:spTree>
    <p:extLst>
      <p:ext uri="{BB962C8B-B14F-4D97-AF65-F5344CB8AC3E}">
        <p14:creationId xmlns:p14="http://schemas.microsoft.com/office/powerpoint/2010/main" val="3575216801"/>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14:presetBounceEnd="50000">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14:bounceEnd="50000">
                                          <p:cBhvr additive="base">
                                            <p:cTn id="7" dur="400" fill="hold"/>
                                            <p:tgtEl>
                                              <p:spTgt spid="9"/>
                                            </p:tgtEl>
                                            <p:attrNameLst>
                                              <p:attrName>ppt_x</p:attrName>
                                            </p:attrNameLst>
                                          </p:cBhvr>
                                          <p:tavLst>
                                            <p:tav tm="0">
                                              <p:val>
                                                <p:strVal val="#ppt_x"/>
                                              </p:val>
                                            </p:tav>
                                            <p:tav tm="100000">
                                              <p:val>
                                                <p:strVal val="#ppt_x"/>
                                              </p:val>
                                            </p:tav>
                                          </p:tavLst>
                                        </p:anim>
                                        <p:anim calcmode="lin" valueType="num" p14:bounceEnd="50000">
                                          <p:cBhvr additive="base">
                                            <p:cTn id="8" dur="400" fill="hold"/>
                                            <p:tgtEl>
                                              <p:spTgt spid="9"/>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hamm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400" fill="hold"/>
                                            <p:tgtEl>
                                              <p:spTgt spid="9"/>
                                            </p:tgtEl>
                                            <p:attrNameLst>
                                              <p:attrName>ppt_x</p:attrName>
                                            </p:attrNameLst>
                                          </p:cBhvr>
                                          <p:tavLst>
                                            <p:tav tm="0">
                                              <p:val>
                                                <p:strVal val="#ppt_x"/>
                                              </p:val>
                                            </p:tav>
                                            <p:tav tm="100000">
                                              <p:val>
                                                <p:strVal val="#ppt_x"/>
                                              </p:val>
                                            </p:tav>
                                          </p:tavLst>
                                        </p:anim>
                                        <p:anim calcmode="lin" valueType="num">
                                          <p:cBhvr additive="base">
                                            <p:cTn id="8" dur="400" fill="hold"/>
                                            <p:tgtEl>
                                              <p:spTgt spid="9"/>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hamm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19A1B-5317-B156-3B4E-F187379A4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3ED42-6C93-3D6A-2DDB-DFA956A6D03D}"/>
              </a:ext>
            </a:extLst>
          </p:cNvPr>
          <p:cNvSpPr>
            <a:spLocks noGrp="1"/>
          </p:cNvSpPr>
          <p:nvPr>
            <p:ph type="title"/>
          </p:nvPr>
        </p:nvSpPr>
        <p:spPr/>
        <p:txBody>
          <a:bodyPr/>
          <a:lstStyle/>
          <a:p>
            <a:r>
              <a:rPr lang="en-US">
                <a:latin typeface="Inter"/>
                <a:cs typeface="Poppins SemiBold"/>
              </a:rPr>
              <a:t>Results</a:t>
            </a:r>
          </a:p>
        </p:txBody>
      </p:sp>
      <p:sp>
        <p:nvSpPr>
          <p:cNvPr id="4" name="Text Placeholder 3">
            <a:extLst>
              <a:ext uri="{FF2B5EF4-FFF2-40B4-BE49-F238E27FC236}">
                <a16:creationId xmlns:a16="http://schemas.microsoft.com/office/drawing/2014/main" id="{C499B3E1-C217-BBA9-D6D0-0756DB3B17D7}"/>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F4323222-EE40-B5A0-7ED3-59636EA3AB44}"/>
              </a:ext>
            </a:extLst>
          </p:cNvPr>
          <p:cNvSpPr>
            <a:spLocks noGrp="1"/>
          </p:cNvSpPr>
          <p:nvPr>
            <p:ph type="sldNum" sz="quarter" idx="2"/>
          </p:nvPr>
        </p:nvSpPr>
        <p:spPr/>
        <p:txBody>
          <a:bodyPr/>
          <a:lstStyle/>
          <a:p>
            <a:fld id="{86CB4B4D-7CA3-9044-876B-883B54F8677D}" type="slidenum">
              <a:rPr lang="en-US" smtClean="0"/>
              <a:pPr/>
              <a:t>14</a:t>
            </a:fld>
            <a:endParaRPr lang="en-US"/>
          </a:p>
        </p:txBody>
      </p:sp>
      <p:pic>
        <p:nvPicPr>
          <p:cNvPr id="6" name="Picture 5">
            <a:extLst>
              <a:ext uri="{FF2B5EF4-FFF2-40B4-BE49-F238E27FC236}">
                <a16:creationId xmlns:a16="http://schemas.microsoft.com/office/drawing/2014/main" id="{A564D4A4-AD25-A99B-C385-BB107E4875C0}"/>
              </a:ext>
            </a:extLst>
          </p:cNvPr>
          <p:cNvPicPr>
            <a:picLocks noChangeAspect="1"/>
          </p:cNvPicPr>
          <p:nvPr/>
        </p:nvPicPr>
        <p:blipFill>
          <a:blip r:embed="rId3"/>
          <a:stretch>
            <a:fillRect/>
          </a:stretch>
        </p:blipFill>
        <p:spPr>
          <a:xfrm>
            <a:off x="11429999" y="2298291"/>
            <a:ext cx="12290321" cy="9119418"/>
          </a:xfrm>
          <a:prstGeom prst="rect">
            <a:avLst/>
          </a:prstGeom>
          <a:ln w="76200">
            <a:solidFill>
              <a:schemeClr val="tx2"/>
            </a:solidFill>
          </a:ln>
        </p:spPr>
      </p:pic>
      <p:pic>
        <p:nvPicPr>
          <p:cNvPr id="8" name="Picture 7" descr="A screenshot of a computer program&#10;&#10;AI-generated content may be incorrect.">
            <a:extLst>
              <a:ext uri="{FF2B5EF4-FFF2-40B4-BE49-F238E27FC236}">
                <a16:creationId xmlns:a16="http://schemas.microsoft.com/office/drawing/2014/main" id="{5318C226-50D4-8235-5224-2E1759E424F7}"/>
              </a:ext>
            </a:extLst>
          </p:cNvPr>
          <p:cNvPicPr>
            <a:picLocks noChangeAspect="1"/>
          </p:cNvPicPr>
          <p:nvPr/>
        </p:nvPicPr>
        <p:blipFill>
          <a:blip r:embed="rId4">
            <a:extLst>
              <a:ext uri="{28A0092B-C50C-407E-A947-70E740481C1C}">
                <a14:useLocalDpi xmlns:a14="http://schemas.microsoft.com/office/drawing/2010/main" val="0"/>
              </a:ext>
            </a:extLst>
          </a:blip>
          <a:srcRect r="8083"/>
          <a:stretch/>
        </p:blipFill>
        <p:spPr>
          <a:xfrm>
            <a:off x="778215" y="4603498"/>
            <a:ext cx="10510862" cy="4941946"/>
          </a:xfrm>
          <a:prstGeom prst="rect">
            <a:avLst/>
          </a:prstGeom>
        </p:spPr>
      </p:pic>
      <p:sp>
        <p:nvSpPr>
          <p:cNvPr id="11" name="Rectangle 10">
            <a:extLst>
              <a:ext uri="{FF2B5EF4-FFF2-40B4-BE49-F238E27FC236}">
                <a16:creationId xmlns:a16="http://schemas.microsoft.com/office/drawing/2014/main" id="{3FEF0B1D-775B-7184-4E4B-08D58C1A1568}"/>
              </a:ext>
            </a:extLst>
          </p:cNvPr>
          <p:cNvSpPr/>
          <p:nvPr/>
        </p:nvSpPr>
        <p:spPr>
          <a:xfrm>
            <a:off x="920814" y="6523264"/>
            <a:ext cx="2351315" cy="669471"/>
          </a:xfrm>
          <a:prstGeom prst="rect">
            <a:avLst/>
          </a:prstGeom>
          <a:solidFill>
            <a:srgbClr val="383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9B1F75-4CAE-BD66-B5F4-51B64F09E9E0}"/>
              </a:ext>
            </a:extLst>
          </p:cNvPr>
          <p:cNvSpPr/>
          <p:nvPr/>
        </p:nvSpPr>
        <p:spPr>
          <a:xfrm>
            <a:off x="1321020" y="5875498"/>
            <a:ext cx="6250657" cy="293914"/>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nut 12">
            <a:extLst>
              <a:ext uri="{FF2B5EF4-FFF2-40B4-BE49-F238E27FC236}">
                <a16:creationId xmlns:a16="http://schemas.microsoft.com/office/drawing/2014/main" id="{F632C337-ACBC-23D3-827B-4472B9E105A9}"/>
              </a:ext>
            </a:extLst>
          </p:cNvPr>
          <p:cNvSpPr/>
          <p:nvPr/>
        </p:nvSpPr>
        <p:spPr>
          <a:xfrm>
            <a:off x="5143500" y="8435340"/>
            <a:ext cx="662940" cy="365760"/>
          </a:xfrm>
          <a:prstGeom prst="donut">
            <a:avLst>
              <a:gd name="adj" fmla="val 11283"/>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22163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82F55-D095-29B3-99D0-90680EAE5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965FC-24D2-6210-774A-57AFE018C866}"/>
              </a:ext>
            </a:extLst>
          </p:cNvPr>
          <p:cNvSpPr>
            <a:spLocks noGrp="1"/>
          </p:cNvSpPr>
          <p:nvPr>
            <p:ph type="title"/>
          </p:nvPr>
        </p:nvSpPr>
        <p:spPr/>
        <p:txBody>
          <a:bodyPr/>
          <a:lstStyle/>
          <a:p>
            <a:r>
              <a:rPr lang="en-US">
                <a:latin typeface="Inter"/>
                <a:cs typeface="Poppins SemiBold"/>
              </a:rPr>
              <a:t>Conclusion </a:t>
            </a:r>
            <a:endParaRPr lang="en-US"/>
          </a:p>
        </p:txBody>
      </p:sp>
      <p:sp>
        <p:nvSpPr>
          <p:cNvPr id="3" name="Content Placeholder 2">
            <a:extLst>
              <a:ext uri="{FF2B5EF4-FFF2-40B4-BE49-F238E27FC236}">
                <a16:creationId xmlns:a16="http://schemas.microsoft.com/office/drawing/2014/main" id="{9AAEFB54-388E-3DFD-F214-2D9AABB57CDB}"/>
              </a:ext>
            </a:extLst>
          </p:cNvPr>
          <p:cNvSpPr>
            <a:spLocks noGrp="1"/>
          </p:cNvSpPr>
          <p:nvPr>
            <p:ph idx="1"/>
          </p:nvPr>
        </p:nvSpPr>
        <p:spPr>
          <a:xfrm>
            <a:off x="1929995" y="5350212"/>
            <a:ext cx="20524011" cy="7003153"/>
          </a:xfrm>
          <a:ln w="57150">
            <a:solidFill>
              <a:schemeClr val="tx2"/>
            </a:solidFill>
          </a:ln>
        </p:spPr>
        <p:txBody>
          <a:bodyPr>
            <a:normAutofit/>
          </a:bodyPr>
          <a:lstStyle/>
          <a:p>
            <a:pPr algn="l">
              <a:buFont typeface="Arial" panose="020B0604020202020204" pitchFamily="34" charset="0"/>
              <a:buChar char="•"/>
            </a:pPr>
            <a:r>
              <a:rPr lang="en-US" sz="3500" b="0" i="0">
                <a:effectLst/>
                <a:latin typeface="fkGroteskNeue"/>
              </a:rPr>
              <a:t>Our model was able to predict future market volatility using a comprehensive set of features derived from options prices and market data</a:t>
            </a:r>
          </a:p>
          <a:p>
            <a:pPr algn="l">
              <a:buFont typeface="Arial" panose="020B0604020202020204" pitchFamily="34" charset="0"/>
              <a:buChar char="•"/>
            </a:pPr>
            <a:r>
              <a:rPr lang="en-US" sz="3500" b="0" i="0">
                <a:effectLst/>
                <a:latin typeface="fkGroteskNeue"/>
              </a:rPr>
              <a:t>The model demonstrated promising predictive accuracy, with minimal signs of overfitting as evidenced by similar train and test scores, </a:t>
            </a:r>
            <a:endParaRPr lang="en-US" sz="3500">
              <a:latin typeface="fkGroteskNeue"/>
            </a:endParaRPr>
          </a:p>
          <a:p>
            <a:pPr algn="l">
              <a:buFont typeface="Arial" panose="020B0604020202020204" pitchFamily="34" charset="0"/>
              <a:buChar char="•"/>
            </a:pPr>
            <a:r>
              <a:rPr lang="en-US" sz="3500" b="0" i="0">
                <a:effectLst/>
                <a:latin typeface="fkGroteskNeue"/>
              </a:rPr>
              <a:t>Our results suggest that machine learning approaches can effectively capture patterns in volatility, supporting their use as decision tools for risk management and investment strategies</a:t>
            </a:r>
          </a:p>
          <a:p>
            <a:endParaRPr lang="en-US" sz="3500"/>
          </a:p>
        </p:txBody>
      </p:sp>
      <p:sp>
        <p:nvSpPr>
          <p:cNvPr id="4" name="Text Placeholder 3">
            <a:extLst>
              <a:ext uri="{FF2B5EF4-FFF2-40B4-BE49-F238E27FC236}">
                <a16:creationId xmlns:a16="http://schemas.microsoft.com/office/drawing/2014/main" id="{6BF5DDEE-7DC0-970D-2DDA-1B94085418CF}"/>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CC6AE8A9-540E-73C7-E2F7-8F46181B108A}"/>
              </a:ext>
            </a:extLst>
          </p:cNvPr>
          <p:cNvSpPr>
            <a:spLocks noGrp="1"/>
          </p:cNvSpPr>
          <p:nvPr>
            <p:ph type="sldNum" sz="quarter" idx="2"/>
          </p:nvPr>
        </p:nvSpPr>
        <p:spPr/>
        <p:txBody>
          <a:bodyPr/>
          <a:lstStyle/>
          <a:p>
            <a:fld id="{86CB4B4D-7CA3-9044-876B-883B54F8677D}" type="slidenum">
              <a:rPr lang="en-US" smtClean="0"/>
              <a:pPr/>
              <a:t>15</a:t>
            </a:fld>
            <a:endParaRPr lang="en-US"/>
          </a:p>
        </p:txBody>
      </p:sp>
      <p:sp>
        <p:nvSpPr>
          <p:cNvPr id="7" name="Content Placeholder 2">
            <a:extLst>
              <a:ext uri="{FF2B5EF4-FFF2-40B4-BE49-F238E27FC236}">
                <a16:creationId xmlns:a16="http://schemas.microsoft.com/office/drawing/2014/main" id="{9E517719-DB67-5DA6-FE47-B55299825C35}"/>
              </a:ext>
            </a:extLst>
          </p:cNvPr>
          <p:cNvSpPr txBox="1">
            <a:spLocks/>
          </p:cNvSpPr>
          <p:nvPr/>
        </p:nvSpPr>
        <p:spPr>
          <a:xfrm>
            <a:off x="1929995" y="3709886"/>
            <a:ext cx="20524010" cy="1219201"/>
          </a:xfrm>
          <a:prstGeom prst="rect">
            <a:avLst/>
          </a:prstGeom>
          <a:solidFill>
            <a:schemeClr val="tx2"/>
          </a:solidFill>
          <a:ln w="38100">
            <a:solidFill>
              <a:schemeClr val="tx2"/>
            </a:solidFill>
          </a:ln>
        </p:spPr>
        <p:txBody>
          <a:bodyPr vert="horz" lIns="91440" tIns="45720" rIns="91440" bIns="45720" rtlCol="0" anchor="ct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6000" b="1">
                <a:solidFill>
                  <a:schemeClr val="bg1"/>
                </a:solidFill>
                <a:effectLst/>
                <a:latin typeface="Inter" panose="02000503000000020004"/>
              </a:rPr>
              <a:t>Project Summary</a:t>
            </a:r>
            <a:endParaRPr lang="en-US" sz="6000" b="1">
              <a:solidFill>
                <a:schemeClr val="bg1"/>
              </a:solidFill>
              <a:latin typeface="Inter" panose="02000503000000020004"/>
            </a:endParaRPr>
          </a:p>
        </p:txBody>
      </p:sp>
    </p:spTree>
    <p:extLst>
      <p:ext uri="{BB962C8B-B14F-4D97-AF65-F5344CB8AC3E}">
        <p14:creationId xmlns:p14="http://schemas.microsoft.com/office/powerpoint/2010/main" val="3904869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27A34-4E16-A0C8-A9FE-786FF2F5D6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1300C-5ED4-22C0-2C3C-CA8DFD085DE0}"/>
              </a:ext>
            </a:extLst>
          </p:cNvPr>
          <p:cNvSpPr>
            <a:spLocks noGrp="1"/>
          </p:cNvSpPr>
          <p:nvPr>
            <p:ph type="title"/>
          </p:nvPr>
        </p:nvSpPr>
        <p:spPr/>
        <p:txBody>
          <a:bodyPr/>
          <a:lstStyle/>
          <a:p>
            <a:r>
              <a:rPr lang="en-US">
                <a:latin typeface="Inter"/>
                <a:cs typeface="Poppins SemiBold"/>
              </a:rPr>
              <a:t>Future Work </a:t>
            </a:r>
            <a:endParaRPr lang="en-US"/>
          </a:p>
        </p:txBody>
      </p:sp>
      <p:sp>
        <p:nvSpPr>
          <p:cNvPr id="4" name="Text Placeholder 3">
            <a:extLst>
              <a:ext uri="{FF2B5EF4-FFF2-40B4-BE49-F238E27FC236}">
                <a16:creationId xmlns:a16="http://schemas.microsoft.com/office/drawing/2014/main" id="{637E6595-DF13-4F63-850E-4622C9715032}"/>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30872EA5-65C7-8EE4-00DB-E629CE9A462B}"/>
              </a:ext>
            </a:extLst>
          </p:cNvPr>
          <p:cNvSpPr>
            <a:spLocks noGrp="1"/>
          </p:cNvSpPr>
          <p:nvPr>
            <p:ph type="sldNum" sz="quarter" idx="2"/>
          </p:nvPr>
        </p:nvSpPr>
        <p:spPr/>
        <p:txBody>
          <a:bodyPr/>
          <a:lstStyle/>
          <a:p>
            <a:fld id="{86CB4B4D-7CA3-9044-876B-883B54F8677D}" type="slidenum">
              <a:rPr lang="en-US" smtClean="0"/>
              <a:pPr/>
              <a:t>16</a:t>
            </a:fld>
            <a:endParaRPr lang="en-US"/>
          </a:p>
        </p:txBody>
      </p:sp>
      <p:sp>
        <p:nvSpPr>
          <p:cNvPr id="6" name="Content Placeholder 2">
            <a:extLst>
              <a:ext uri="{FF2B5EF4-FFF2-40B4-BE49-F238E27FC236}">
                <a16:creationId xmlns:a16="http://schemas.microsoft.com/office/drawing/2014/main" id="{D6DB49BE-5E64-A718-17AA-BE8609F77C45}"/>
              </a:ext>
            </a:extLst>
          </p:cNvPr>
          <p:cNvSpPr txBox="1">
            <a:spLocks/>
          </p:cNvSpPr>
          <p:nvPr/>
        </p:nvSpPr>
        <p:spPr>
          <a:xfrm>
            <a:off x="1464624" y="5330091"/>
            <a:ext cx="22157094" cy="7003153"/>
          </a:xfrm>
          <a:prstGeom prst="rect">
            <a:avLst/>
          </a:prstGeom>
          <a:ln w="57150">
            <a:solidFill>
              <a:schemeClr val="tx2"/>
            </a:solidFill>
          </a:ln>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Arial" panose="020B0604020202020204" pitchFamily="34" charset="0"/>
              <a:buChar char="•"/>
            </a:pPr>
            <a:r>
              <a:rPr lang="en-US" sz="3500" b="0" i="0">
                <a:effectLst/>
                <a:latin typeface="fkGroteskNeue"/>
              </a:rPr>
              <a:t>Incorporate additional data sources, such as macroeconomic indicators or alternative data (e.g., news sentiment), to further improve model</a:t>
            </a:r>
          </a:p>
          <a:p>
            <a:pPr algn="l">
              <a:buFont typeface="Arial" panose="020B0604020202020204" pitchFamily="34" charset="0"/>
              <a:buChar char="•"/>
            </a:pPr>
            <a:r>
              <a:rPr lang="en-US" sz="3500" b="0" i="0">
                <a:effectLst/>
                <a:latin typeface="fkGroteskNeue"/>
              </a:rPr>
              <a:t>Implement real-time model retraining and adaptive learning to respond to changing market conditions and regime shifts</a:t>
            </a:r>
          </a:p>
          <a:p>
            <a:pPr algn="l">
              <a:buFont typeface="Arial" panose="020B0604020202020204" pitchFamily="34" charset="0"/>
              <a:buChar char="•"/>
            </a:pPr>
            <a:r>
              <a:rPr lang="en-US" sz="3500" b="0" i="0" err="1">
                <a:effectLst/>
                <a:latin typeface="fkGroteskNeue"/>
              </a:rPr>
              <a:t>Backtest</a:t>
            </a:r>
            <a:r>
              <a:rPr lang="en-US" sz="3500" b="0" i="0">
                <a:effectLst/>
                <a:latin typeface="fkGroteskNeue"/>
              </a:rPr>
              <a:t> and deploy the model in a live trading environment to evaluate its real-world performance and refine trading strategies based on model outputs</a:t>
            </a:r>
          </a:p>
          <a:p>
            <a:pPr algn="l">
              <a:buFont typeface="Arial" panose="020B0604020202020204" pitchFamily="34" charset="0"/>
              <a:buChar char="•"/>
            </a:pPr>
            <a:r>
              <a:rPr lang="en-US" sz="3500" b="0" i="0">
                <a:effectLst/>
                <a:latin typeface="fkGroteskNeue"/>
              </a:rPr>
              <a:t>Investigate the interpretability of the model to better understand which features drive predictions, enhancing transparency for end-uses</a:t>
            </a:r>
          </a:p>
        </p:txBody>
      </p:sp>
      <p:sp>
        <p:nvSpPr>
          <p:cNvPr id="8" name="Content Placeholder 2">
            <a:extLst>
              <a:ext uri="{FF2B5EF4-FFF2-40B4-BE49-F238E27FC236}">
                <a16:creationId xmlns:a16="http://schemas.microsoft.com/office/drawing/2014/main" id="{68E2C820-55A9-30FC-55AC-3572D7E538EF}"/>
              </a:ext>
            </a:extLst>
          </p:cNvPr>
          <p:cNvSpPr txBox="1">
            <a:spLocks/>
          </p:cNvSpPr>
          <p:nvPr/>
        </p:nvSpPr>
        <p:spPr>
          <a:xfrm>
            <a:off x="1464624" y="3709885"/>
            <a:ext cx="22157094" cy="1219201"/>
          </a:xfrm>
          <a:prstGeom prst="rect">
            <a:avLst/>
          </a:prstGeom>
          <a:solidFill>
            <a:schemeClr val="tx2"/>
          </a:solidFill>
          <a:ln w="38100">
            <a:solidFill>
              <a:schemeClr val="tx2"/>
            </a:solidFill>
          </a:ln>
        </p:spPr>
        <p:txBody>
          <a:bodyPr vert="horz" lIns="91440" tIns="45720" rIns="91440" bIns="45720" rtlCol="0" anchor="ct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6000" b="1">
                <a:solidFill>
                  <a:schemeClr val="bg1"/>
                </a:solidFill>
                <a:effectLst/>
                <a:latin typeface="Inter" panose="02000503000000020004"/>
              </a:rPr>
              <a:t>Future Work</a:t>
            </a:r>
            <a:endParaRPr lang="en-US" sz="6000" b="1">
              <a:solidFill>
                <a:schemeClr val="bg1"/>
              </a:solidFill>
              <a:latin typeface="Inter" panose="02000503000000020004"/>
            </a:endParaRPr>
          </a:p>
        </p:txBody>
      </p:sp>
    </p:spTree>
    <p:extLst>
      <p:ext uri="{BB962C8B-B14F-4D97-AF65-F5344CB8AC3E}">
        <p14:creationId xmlns:p14="http://schemas.microsoft.com/office/powerpoint/2010/main" val="1514206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058363"/>
      </p:ext>
    </p:extLst>
  </p:cSld>
  <p:clrMapOvr>
    <a:masterClrMapping/>
  </p:clrMapOvr>
</p:sld>
</file>

<file path=ppt/theme/theme1.xml><?xml version="1.0" encoding="utf-8"?>
<a:theme xmlns:a="http://schemas.openxmlformats.org/drawingml/2006/main" name="Covers">
  <a:themeElements>
    <a:clrScheme name="Bonjoy Brand">
      <a:dk1>
        <a:srgbClr val="F5F5F6"/>
      </a:dk1>
      <a:lt1>
        <a:srgbClr val="667085"/>
      </a:lt1>
      <a:dk2>
        <a:srgbClr val="93969C"/>
      </a:dk2>
      <a:lt2>
        <a:srgbClr val="93969C"/>
      </a:lt2>
      <a:accent1>
        <a:srgbClr val="026994"/>
      </a:accent1>
      <a:accent2>
        <a:srgbClr val="0075A7"/>
      </a:accent2>
      <a:accent3>
        <a:srgbClr val="0075A7"/>
      </a:accent3>
      <a:accent4>
        <a:srgbClr val="0093CF"/>
      </a:accent4>
      <a:accent5>
        <a:srgbClr val="05B7F2"/>
      </a:accent5>
      <a:accent6>
        <a:srgbClr val="30CDFF"/>
      </a:accent6>
      <a:hlink>
        <a:srgbClr val="05B7F2"/>
      </a:hlink>
      <a:folHlink>
        <a:srgbClr val="05344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2025 TradersAtSMU Template" id="{8CB0D442-75FD-4C44-892B-3852F376C9F8}" vid="{00AE70A0-4A1F-C247-AB39-09BD0962EE3B}"/>
    </a:ext>
  </a:extLst>
</a:theme>
</file>

<file path=ppt/theme/theme2.xml><?xml version="1.0" encoding="utf-8"?>
<a:theme xmlns:a="http://schemas.openxmlformats.org/drawingml/2006/main" name="Conten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931399C6-1BE7-DC46-ADF7-8F94B3D304D6}"/>
    </a:ext>
  </a:extLst>
</a:theme>
</file>

<file path=ppt/theme/theme3.xml><?xml version="1.0" encoding="utf-8"?>
<a:theme xmlns:a="http://schemas.openxmlformats.org/drawingml/2006/main" name="Section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C0359CAB-40A0-EA4B-8F6D-950F4948605F}"/>
    </a:ext>
  </a:extLst>
</a:theme>
</file>

<file path=ppt/theme/theme4.xml><?xml version="1.0" encoding="utf-8"?>
<a:theme xmlns:a="http://schemas.openxmlformats.org/drawingml/2006/main" name="Closing">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401B2189-6F5A-D547-9427-ACEB6E48A550}"/>
    </a:ext>
  </a:extLst>
</a:theme>
</file>

<file path=ppt/theme/theme5.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96a6368-7521-4ee3-8a8d-a1311be675ab" xsi:nil="true"/>
    <lcf76f155ced4ddcb4097134ff3c332f xmlns="6c9a0161-f457-41a4-b533-3bd003b535d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B6CB155FAA9D4B80B7B64B6B4FA188" ma:contentTypeVersion="12" ma:contentTypeDescription="Create a new document." ma:contentTypeScope="" ma:versionID="6dedcad094c6825a2d2265a3204ca033">
  <xsd:schema xmlns:xsd="http://www.w3.org/2001/XMLSchema" xmlns:xs="http://www.w3.org/2001/XMLSchema" xmlns:p="http://schemas.microsoft.com/office/2006/metadata/properties" xmlns:ns2="6c9a0161-f457-41a4-b533-3bd003b535df" xmlns:ns3="096a6368-7521-4ee3-8a8d-a1311be675ab" targetNamespace="http://schemas.microsoft.com/office/2006/metadata/properties" ma:root="true" ma:fieldsID="a3468b99455168ddc1284ddf0e7fed9d" ns2:_="" ns3:_="">
    <xsd:import namespace="6c9a0161-f457-41a4-b533-3bd003b535df"/>
    <xsd:import namespace="096a6368-7521-4ee3-8a8d-a1311be675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9a0161-f457-41a4-b533-3bd003b535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51a94d3-361c-4fb2-8e79-cb69b3aef043"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6a6368-7521-4ee3-8a8d-a1311be675a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0d937db-1fcf-48ac-96a0-f416ad14630a}" ma:internalName="TaxCatchAll" ma:showField="CatchAllData" ma:web="096a6368-7521-4ee3-8a8d-a1311be675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BADD460-6E7B-447D-965A-9247448391A5}">
  <ds:schemaRefs>
    <ds:schemaRef ds:uri="http://schemas.microsoft.com/sharepoint/v3/contenttype/forms"/>
  </ds:schemaRefs>
</ds:datastoreItem>
</file>

<file path=customXml/itemProps2.xml><?xml version="1.0" encoding="utf-8"?>
<ds:datastoreItem xmlns:ds="http://schemas.openxmlformats.org/officeDocument/2006/customXml" ds:itemID="{5579851F-D594-4436-AA2A-42EDEC9C9E16}">
  <ds:schemaRefs>
    <ds:schemaRef ds:uri="096a6368-7521-4ee3-8a8d-a1311be675ab"/>
    <ds:schemaRef ds:uri="6c9a0161-f457-41a4-b533-3bd003b535d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BDA7368-A5EA-47DC-80E1-7E5D350EE727}">
  <ds:schemaRefs>
    <ds:schemaRef ds:uri="096a6368-7521-4ee3-8a8d-a1311be675ab"/>
    <ds:schemaRef ds:uri="6c9a0161-f457-41a4-b533-3bd003b535d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2025 TradersAtSMU Template</Template>
  <Application>Microsoft Office PowerPoint</Application>
  <PresentationFormat>Custom</PresentationFormat>
  <Slides>17</Slides>
  <Notes>5</Notes>
  <HiddenSlides>0</HiddenSlides>
  <ScaleCrop>false</ScaleCrop>
  <HeadingPairs>
    <vt:vector size="4" baseType="variant">
      <vt:variant>
        <vt:lpstr>Theme</vt:lpstr>
      </vt:variant>
      <vt:variant>
        <vt:i4>4</vt:i4>
      </vt:variant>
      <vt:variant>
        <vt:lpstr>Slide Titles</vt:lpstr>
      </vt:variant>
      <vt:variant>
        <vt:i4>17</vt:i4>
      </vt:variant>
    </vt:vector>
  </HeadingPairs>
  <TitlesOfParts>
    <vt:vector size="21" baseType="lpstr">
      <vt:lpstr>Covers</vt:lpstr>
      <vt:lpstr>Content</vt:lpstr>
      <vt:lpstr>Sections</vt:lpstr>
      <vt:lpstr>Closing</vt:lpstr>
      <vt:lpstr>Predicting Volatility</vt:lpstr>
      <vt:lpstr>Agenda</vt:lpstr>
      <vt:lpstr>Introduction + Motivation</vt:lpstr>
      <vt:lpstr>Hypothesis</vt:lpstr>
      <vt:lpstr>Model </vt:lpstr>
      <vt:lpstr>Data Description</vt:lpstr>
      <vt:lpstr>Feature Engineering</vt:lpstr>
      <vt:lpstr>Feature Engineering</vt:lpstr>
      <vt:lpstr>Data Visualization</vt:lpstr>
      <vt:lpstr>Data Visualization</vt:lpstr>
      <vt:lpstr>Model Training</vt:lpstr>
      <vt:lpstr>Combatting Overfitting</vt:lpstr>
      <vt:lpstr>Combatting Overfitting</vt:lpstr>
      <vt:lpstr>Results</vt:lpstr>
      <vt:lpstr>Conclusion </vt:lpstr>
      <vt:lpstr>Future Work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Zimmer, Will</dc:creator>
  <cp:revision>7</cp:revision>
  <dcterms:created xsi:type="dcterms:W3CDTF">2025-04-29T01:49:34Z</dcterms:created>
  <dcterms:modified xsi:type="dcterms:W3CDTF">2025-04-30T20:36:58Z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0x0101000FB6CB155FAA9D4B80B7B64B6B4FA188</vt:lpwstr>
  </property>
  <property fmtid="{D5CDD505-2E9C-101B-9397-08002B2CF9AE}" pid="3" name="MediaServiceImageTags">
    <vt:lpwstr/>
  </property>
</Properties>
</file>